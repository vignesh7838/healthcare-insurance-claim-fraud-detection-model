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Bricolage Grotesque" panose="020B0604020202020204" charset="0"/>
      <p:regular r:id="rId12"/>
    </p:embeddedFont>
    <p:embeddedFont>
      <p:font typeface="Bricolage Grotesque Bold" panose="020B0604020202020204" charset="0"/>
      <p:regular r:id="rId13"/>
    </p:embeddedFont>
    <p:embeddedFont>
      <p:font typeface="Canva Sans Bold" panose="020B0604020202020204" charset="0"/>
      <p:regular r:id="rId14"/>
    </p:embeddedFont>
    <p:embeddedFont>
      <p:font typeface="Poppins" panose="020B0502040204020203" pitchFamily="2" charset="0"/>
      <p:regular r:id="rId15"/>
    </p:embeddedFont>
    <p:embeddedFont>
      <p:font typeface="Poppi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gnesh Jaganathan" userId="9c97c70d3bc6f0d3" providerId="LiveId" clId="{7539CEB7-D7B6-4E8F-A47A-3BD1DC1A049A}"/>
    <pc:docChg chg="undo custSel modSld">
      <pc:chgData name="Vignesh Jaganathan" userId="9c97c70d3bc6f0d3" providerId="LiveId" clId="{7539CEB7-D7B6-4E8F-A47A-3BD1DC1A049A}" dt="2026-05-03T18:36:07.355" v="186" actId="478"/>
      <pc:docMkLst>
        <pc:docMk/>
      </pc:docMkLst>
      <pc:sldChg chg="addSp delSp modSp mod">
        <pc:chgData name="Vignesh Jaganathan" userId="9c97c70d3bc6f0d3" providerId="LiveId" clId="{7539CEB7-D7B6-4E8F-A47A-3BD1DC1A049A}" dt="2026-05-03T18:33:37.303" v="85" actId="1076"/>
        <pc:sldMkLst>
          <pc:docMk/>
          <pc:sldMk cId="0" sldId="256"/>
        </pc:sldMkLst>
        <pc:spChg chg="add del mod">
          <ac:chgData name="Vignesh Jaganathan" userId="9c97c70d3bc6f0d3" providerId="LiveId" clId="{7539CEB7-D7B6-4E8F-A47A-3BD1DC1A049A}" dt="2026-05-03T18:32:02.157" v="70" actId="20577"/>
          <ac:spMkLst>
            <pc:docMk/>
            <pc:sldMk cId="0" sldId="256"/>
            <ac:spMk id="12" creationId="{00000000-0000-0000-0000-000000000000}"/>
          </ac:spMkLst>
        </pc:spChg>
        <pc:spChg chg="add del mod">
          <ac:chgData name="Vignesh Jaganathan" userId="9c97c70d3bc6f0d3" providerId="LiveId" clId="{7539CEB7-D7B6-4E8F-A47A-3BD1DC1A049A}" dt="2026-05-03T18:32:06.582" v="72" actId="478"/>
          <ac:spMkLst>
            <pc:docMk/>
            <pc:sldMk cId="0" sldId="256"/>
            <ac:spMk id="13" creationId="{00000000-0000-0000-0000-000000000000}"/>
          </ac:spMkLst>
        </pc:spChg>
        <pc:spChg chg="add del">
          <ac:chgData name="Vignesh Jaganathan" userId="9c97c70d3bc6f0d3" providerId="LiveId" clId="{7539CEB7-D7B6-4E8F-A47A-3BD1DC1A049A}" dt="2026-05-03T18:32:10.646" v="73" actId="478"/>
          <ac:spMkLst>
            <pc:docMk/>
            <pc:sldMk cId="0" sldId="256"/>
            <ac:spMk id="14" creationId="{00000000-0000-0000-0000-000000000000}"/>
          </ac:spMkLst>
        </pc:spChg>
        <pc:spChg chg="mod">
          <ac:chgData name="Vignesh Jaganathan" userId="9c97c70d3bc6f0d3" providerId="LiveId" clId="{7539CEB7-D7B6-4E8F-A47A-3BD1DC1A049A}" dt="2026-05-03T18:33:30.096" v="84" actId="1076"/>
          <ac:spMkLst>
            <pc:docMk/>
            <pc:sldMk cId="0" sldId="256"/>
            <ac:spMk id="16" creationId="{00000000-0000-0000-0000-000000000000}"/>
          </ac:spMkLst>
        </pc:spChg>
        <pc:spChg chg="add del mod">
          <ac:chgData name="Vignesh Jaganathan" userId="9c97c70d3bc6f0d3" providerId="LiveId" clId="{7539CEB7-D7B6-4E8F-A47A-3BD1DC1A049A}" dt="2026-05-03T18:32:27.261" v="74" actId="478"/>
          <ac:spMkLst>
            <pc:docMk/>
            <pc:sldMk cId="0" sldId="256"/>
            <ac:spMk id="17" creationId="{00000000-0000-0000-0000-000000000000}"/>
          </ac:spMkLst>
        </pc:spChg>
        <pc:spChg chg="mod">
          <ac:chgData name="Vignesh Jaganathan" userId="9c97c70d3bc6f0d3" providerId="LiveId" clId="{7539CEB7-D7B6-4E8F-A47A-3BD1DC1A049A}" dt="2026-05-03T18:31:28.043" v="23" actId="14100"/>
          <ac:spMkLst>
            <pc:docMk/>
            <pc:sldMk cId="0" sldId="256"/>
            <ac:spMk id="18" creationId="{00000000-0000-0000-0000-000000000000}"/>
          </ac:spMkLst>
        </pc:spChg>
        <pc:spChg chg="mod">
          <ac:chgData name="Vignesh Jaganathan" userId="9c97c70d3bc6f0d3" providerId="LiveId" clId="{7539CEB7-D7B6-4E8F-A47A-3BD1DC1A049A}" dt="2026-05-03T18:33:37.303" v="85" actId="1076"/>
          <ac:spMkLst>
            <pc:docMk/>
            <pc:sldMk cId="0" sldId="256"/>
            <ac:spMk id="19" creationId="{00000000-0000-0000-0000-000000000000}"/>
          </ac:spMkLst>
        </pc:spChg>
        <pc:spChg chg="mod topLvl">
          <ac:chgData name="Vignesh Jaganathan" userId="9c97c70d3bc6f0d3" providerId="LiveId" clId="{7539CEB7-D7B6-4E8F-A47A-3BD1DC1A049A}" dt="2026-05-03T18:31:35.621" v="34" actId="478"/>
          <ac:spMkLst>
            <pc:docMk/>
            <pc:sldMk cId="0" sldId="256"/>
            <ac:spMk id="23" creationId="{00000000-0000-0000-0000-000000000000}"/>
          </ac:spMkLst>
        </pc:spChg>
        <pc:spChg chg="add del mod topLvl">
          <ac:chgData name="Vignesh Jaganathan" userId="9c97c70d3bc6f0d3" providerId="LiveId" clId="{7539CEB7-D7B6-4E8F-A47A-3BD1DC1A049A}" dt="2026-05-03T18:31:35.621" v="34" actId="478"/>
          <ac:spMkLst>
            <pc:docMk/>
            <pc:sldMk cId="0" sldId="256"/>
            <ac:spMk id="24" creationId="{00000000-0000-0000-0000-000000000000}"/>
          </ac:spMkLst>
        </pc:spChg>
        <pc:grpChg chg="mod">
          <ac:chgData name="Vignesh Jaganathan" userId="9c97c70d3bc6f0d3" providerId="LiveId" clId="{7539CEB7-D7B6-4E8F-A47A-3BD1DC1A049A}" dt="2026-05-03T18:33:00.280" v="79" actId="1076"/>
          <ac:grpSpMkLst>
            <pc:docMk/>
            <pc:sldMk cId="0" sldId="256"/>
            <ac:grpSpMk id="7" creationId="{00000000-0000-0000-0000-000000000000}"/>
          </ac:grpSpMkLst>
        </pc:grpChg>
        <pc:grpChg chg="add del">
          <ac:chgData name="Vignesh Jaganathan" userId="9c97c70d3bc6f0d3" providerId="LiveId" clId="{7539CEB7-D7B6-4E8F-A47A-3BD1DC1A049A}" dt="2026-05-03T18:32:27.261" v="74" actId="478"/>
          <ac:grpSpMkLst>
            <pc:docMk/>
            <pc:sldMk cId="0" sldId="256"/>
            <ac:grpSpMk id="15" creationId="{00000000-0000-0000-0000-000000000000}"/>
          </ac:grpSpMkLst>
        </pc:grpChg>
        <pc:grpChg chg="add del">
          <ac:chgData name="Vignesh Jaganathan" userId="9c97c70d3bc6f0d3" providerId="LiveId" clId="{7539CEB7-D7B6-4E8F-A47A-3BD1DC1A049A}" dt="2026-05-03T18:31:35.621" v="34" actId="478"/>
          <ac:grpSpMkLst>
            <pc:docMk/>
            <pc:sldMk cId="0" sldId="256"/>
            <ac:grpSpMk id="22" creationId="{00000000-0000-0000-0000-000000000000}"/>
          </ac:grpSpMkLst>
        </pc:grpChg>
      </pc:sldChg>
      <pc:sldChg chg="addSp delSp modSp mod">
        <pc:chgData name="Vignesh Jaganathan" userId="9c97c70d3bc6f0d3" providerId="LiveId" clId="{7539CEB7-D7B6-4E8F-A47A-3BD1DC1A049A}" dt="2026-05-03T18:36:07.355" v="186" actId="478"/>
        <pc:sldMkLst>
          <pc:docMk/>
          <pc:sldMk cId="0" sldId="265"/>
        </pc:sldMkLst>
        <pc:spChg chg="mod">
          <ac:chgData name="Vignesh Jaganathan" userId="9c97c70d3bc6f0d3" providerId="LiveId" clId="{7539CEB7-D7B6-4E8F-A47A-3BD1DC1A049A}" dt="2026-05-03T18:34:58.830" v="91" actId="20577"/>
          <ac:spMkLst>
            <pc:docMk/>
            <pc:sldMk cId="0" sldId="265"/>
            <ac:spMk id="3" creationId="{00000000-0000-0000-0000-000000000000}"/>
          </ac:spMkLst>
        </pc:spChg>
        <pc:spChg chg="del">
          <ac:chgData name="Vignesh Jaganathan" userId="9c97c70d3bc6f0d3" providerId="LiveId" clId="{7539CEB7-D7B6-4E8F-A47A-3BD1DC1A049A}" dt="2026-05-03T18:34:53.001" v="90" actId="478"/>
          <ac:spMkLst>
            <pc:docMk/>
            <pc:sldMk cId="0" sldId="265"/>
            <ac:spMk id="9" creationId="{00000000-0000-0000-0000-000000000000}"/>
          </ac:spMkLst>
        </pc:spChg>
        <pc:spChg chg="del mod">
          <ac:chgData name="Vignesh Jaganathan" userId="9c97c70d3bc6f0d3" providerId="LiveId" clId="{7539CEB7-D7B6-4E8F-A47A-3BD1DC1A049A}" dt="2026-05-03T18:34:39.969" v="87" actId="478"/>
          <ac:spMkLst>
            <pc:docMk/>
            <pc:sldMk cId="0" sldId="265"/>
            <ac:spMk id="10" creationId="{00000000-0000-0000-0000-000000000000}"/>
          </ac:spMkLst>
        </pc:spChg>
        <pc:spChg chg="del">
          <ac:chgData name="Vignesh Jaganathan" userId="9c97c70d3bc6f0d3" providerId="LiveId" clId="{7539CEB7-D7B6-4E8F-A47A-3BD1DC1A049A}" dt="2026-05-03T18:36:07.355" v="186" actId="478"/>
          <ac:spMkLst>
            <pc:docMk/>
            <pc:sldMk cId="0" sldId="265"/>
            <ac:spMk id="13" creationId="{00000000-0000-0000-0000-000000000000}"/>
          </ac:spMkLst>
        </pc:spChg>
        <pc:spChg chg="mod">
          <ac:chgData name="Vignesh Jaganathan" userId="9c97c70d3bc6f0d3" providerId="LiveId" clId="{7539CEB7-D7B6-4E8F-A47A-3BD1DC1A049A}" dt="2026-05-03T18:35:10.528" v="95" actId="123"/>
          <ac:spMkLst>
            <pc:docMk/>
            <pc:sldMk cId="0" sldId="265"/>
            <ac:spMk id="17" creationId="{00000000-0000-0000-0000-000000000000}"/>
          </ac:spMkLst>
        </pc:spChg>
        <pc:spChg chg="mod">
          <ac:chgData name="Vignesh Jaganathan" userId="9c97c70d3bc6f0d3" providerId="LiveId" clId="{7539CEB7-D7B6-4E8F-A47A-3BD1DC1A049A}" dt="2026-05-03T18:35:23.784" v="111" actId="20577"/>
          <ac:spMkLst>
            <pc:docMk/>
            <pc:sldMk cId="0" sldId="265"/>
            <ac:spMk id="18" creationId="{00000000-0000-0000-0000-000000000000}"/>
          </ac:spMkLst>
        </pc:spChg>
        <pc:spChg chg="mod">
          <ac:chgData name="Vignesh Jaganathan" userId="9c97c70d3bc6f0d3" providerId="LiveId" clId="{7539CEB7-D7B6-4E8F-A47A-3BD1DC1A049A}" dt="2026-05-03T18:35:56.244" v="182" actId="20577"/>
          <ac:spMkLst>
            <pc:docMk/>
            <pc:sldMk cId="0" sldId="265"/>
            <ac:spMk id="19" creationId="{00000000-0000-0000-0000-000000000000}"/>
          </ac:spMkLst>
        </pc:spChg>
        <pc:spChg chg="del mod">
          <ac:chgData name="Vignesh Jaganathan" userId="9c97c70d3bc6f0d3" providerId="LiveId" clId="{7539CEB7-D7B6-4E8F-A47A-3BD1DC1A049A}" dt="2026-05-03T18:36:05.578" v="185" actId="478"/>
          <ac:spMkLst>
            <pc:docMk/>
            <pc:sldMk cId="0" sldId="265"/>
            <ac:spMk id="20" creationId="{00000000-0000-0000-0000-000000000000}"/>
          </ac:spMkLst>
        </pc:spChg>
        <pc:grpChg chg="add del">
          <ac:chgData name="Vignesh Jaganathan" userId="9c97c70d3bc6f0d3" providerId="LiveId" clId="{7539CEB7-D7B6-4E8F-A47A-3BD1DC1A049A}" dt="2026-05-03T18:34:44.106" v="89" actId="478"/>
          <ac:grpSpMkLst>
            <pc:docMk/>
            <pc:sldMk cId="0" sldId="265"/>
            <ac:grpSpMk id="2"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3.svg"/><Relationship Id="rId7" Type="http://schemas.openxmlformats.org/officeDocument/2006/relationships/image" Target="../media/image20.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2415882" cy="10287000"/>
            <a:chOff x="0" y="0"/>
            <a:chExt cx="636282" cy="2709333"/>
          </a:xfrm>
        </p:grpSpPr>
        <p:sp>
          <p:nvSpPr>
            <p:cNvPr id="3" name="Freeform 3"/>
            <p:cNvSpPr/>
            <p:nvPr/>
          </p:nvSpPr>
          <p:spPr>
            <a:xfrm>
              <a:off x="0" y="0"/>
              <a:ext cx="636282" cy="2709333"/>
            </a:xfrm>
            <a:custGeom>
              <a:avLst/>
              <a:gdLst/>
              <a:ahLst/>
              <a:cxnLst/>
              <a:rect l="l" t="t" r="r" b="b"/>
              <a:pathLst>
                <a:path w="636282" h="2709333">
                  <a:moveTo>
                    <a:pt x="0" y="0"/>
                  </a:moveTo>
                  <a:lnTo>
                    <a:pt x="636282" y="0"/>
                  </a:lnTo>
                  <a:lnTo>
                    <a:pt x="636282" y="2709333"/>
                  </a:lnTo>
                  <a:lnTo>
                    <a:pt x="0" y="2709333"/>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636282"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9298246" y="1129450"/>
            <a:ext cx="10352980" cy="9147211"/>
          </a:xfrm>
          <a:custGeom>
            <a:avLst/>
            <a:gdLst/>
            <a:ahLst/>
            <a:cxnLst/>
            <a:rect l="l" t="t" r="r" b="b"/>
            <a:pathLst>
              <a:path w="10352980" h="9147211">
                <a:moveTo>
                  <a:pt x="0" y="0"/>
                </a:moveTo>
                <a:lnTo>
                  <a:pt x="10352980" y="0"/>
                </a:lnTo>
                <a:lnTo>
                  <a:pt x="10352980" y="9147212"/>
                </a:lnTo>
                <a:lnTo>
                  <a:pt x="0" y="9147212"/>
                </a:lnTo>
                <a:lnTo>
                  <a:pt x="0" y="0"/>
                </a:lnTo>
                <a:close/>
              </a:path>
            </a:pathLst>
          </a:custGeom>
          <a:blipFill>
            <a:blip r:embed="rId2"/>
            <a:stretch>
              <a:fillRect/>
            </a:stretch>
          </a:blipFill>
        </p:spPr>
      </p:sp>
      <p:sp>
        <p:nvSpPr>
          <p:cNvPr id="6" name="Freeform 6"/>
          <p:cNvSpPr/>
          <p:nvPr/>
        </p:nvSpPr>
        <p:spPr>
          <a:xfrm>
            <a:off x="839956" y="1028700"/>
            <a:ext cx="735971" cy="710546"/>
          </a:xfrm>
          <a:custGeom>
            <a:avLst/>
            <a:gdLst/>
            <a:ahLst/>
            <a:cxnLst/>
            <a:rect l="l" t="t" r="r" b="b"/>
            <a:pathLst>
              <a:path w="735971" h="710546">
                <a:moveTo>
                  <a:pt x="0" y="0"/>
                </a:moveTo>
                <a:lnTo>
                  <a:pt x="735970" y="0"/>
                </a:lnTo>
                <a:lnTo>
                  <a:pt x="735970" y="710546"/>
                </a:lnTo>
                <a:lnTo>
                  <a:pt x="0" y="71054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a:off x="3395840" y="9258301"/>
            <a:ext cx="2772574" cy="615441"/>
            <a:chOff x="0" y="47625"/>
            <a:chExt cx="3696764" cy="820588"/>
          </a:xfrm>
        </p:grpSpPr>
        <p:grpSp>
          <p:nvGrpSpPr>
            <p:cNvPr id="8" name="Group 8"/>
            <p:cNvGrpSpPr/>
            <p:nvPr/>
          </p:nvGrpSpPr>
          <p:grpSpPr>
            <a:xfrm>
              <a:off x="0" y="385418"/>
              <a:ext cx="134591" cy="13459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0" name="TextBox 10"/>
              <p:cNvSpPr txBox="1"/>
              <p:nvPr/>
            </p:nvSpPr>
            <p:spPr>
              <a:xfrm>
                <a:off x="76200" y="104775"/>
                <a:ext cx="660400" cy="631825"/>
              </a:xfrm>
              <a:prstGeom prst="rect">
                <a:avLst/>
              </a:prstGeom>
            </p:spPr>
            <p:txBody>
              <a:bodyPr lIns="50800" tIns="50800" rIns="50800" bIns="50800" rtlCol="0" anchor="ctr"/>
              <a:lstStyle/>
              <a:p>
                <a:pPr marL="0" lvl="0" indent="0" algn="ctr">
                  <a:lnSpc>
                    <a:spcPts val="1308"/>
                  </a:lnSpc>
                </a:pPr>
                <a:endParaRPr/>
              </a:p>
            </p:txBody>
          </p:sp>
        </p:grpSp>
        <p:sp>
          <p:nvSpPr>
            <p:cNvPr id="11" name="TextBox 11"/>
            <p:cNvSpPr txBox="1"/>
            <p:nvPr/>
          </p:nvSpPr>
          <p:spPr>
            <a:xfrm>
              <a:off x="506484" y="47625"/>
              <a:ext cx="2749098" cy="381297"/>
            </a:xfrm>
            <a:prstGeom prst="rect">
              <a:avLst/>
            </a:prstGeom>
          </p:spPr>
          <p:txBody>
            <a:bodyPr lIns="0" tIns="0" rIns="0" bIns="0" rtlCol="0" anchor="t">
              <a:spAutoFit/>
            </a:bodyPr>
            <a:lstStyle/>
            <a:p>
              <a:pPr marL="0" lvl="0" indent="0" algn="l">
                <a:lnSpc>
                  <a:spcPts val="1869"/>
                </a:lnSpc>
              </a:pPr>
              <a:r>
                <a:rPr lang="en-US" sz="2149" b="1" dirty="0">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PRESENTED BY</a:t>
              </a:r>
            </a:p>
          </p:txBody>
        </p:sp>
        <p:sp>
          <p:nvSpPr>
            <p:cNvPr id="12" name="TextBox 12"/>
            <p:cNvSpPr txBox="1"/>
            <p:nvPr/>
          </p:nvSpPr>
          <p:spPr>
            <a:xfrm>
              <a:off x="506484" y="536669"/>
              <a:ext cx="3190280" cy="331544"/>
            </a:xfrm>
            <a:prstGeom prst="rect">
              <a:avLst/>
            </a:prstGeom>
          </p:spPr>
          <p:txBody>
            <a:bodyPr lIns="0" tIns="0" rIns="0" bIns="0" rtlCol="0" anchor="t">
              <a:spAutoFit/>
            </a:bodyPr>
            <a:lstStyle/>
            <a:p>
              <a:pPr marL="0" lvl="0" indent="0" algn="l">
                <a:lnSpc>
                  <a:spcPts val="1830"/>
                </a:lnSpc>
              </a:pPr>
              <a:r>
                <a:rPr lang="en-US" sz="2104" dirty="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J VIGNESH</a:t>
              </a:r>
            </a:p>
          </p:txBody>
        </p:sp>
        <p:sp>
          <p:nvSpPr>
            <p:cNvPr id="16" name="Freeform 16"/>
            <p:cNvSpPr/>
            <p:nvPr/>
          </p:nvSpPr>
          <p:spPr>
            <a:xfrm flipV="1">
              <a:off x="12617" y="130946"/>
              <a:ext cx="134591" cy="79321"/>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grpSp>
      <p:sp>
        <p:nvSpPr>
          <p:cNvPr id="18" name="TextBox 18"/>
          <p:cNvSpPr txBox="1"/>
          <p:nvPr/>
        </p:nvSpPr>
        <p:spPr>
          <a:xfrm>
            <a:off x="3320099" y="1566340"/>
            <a:ext cx="5996813" cy="4576766"/>
          </a:xfrm>
          <a:prstGeom prst="rect">
            <a:avLst/>
          </a:prstGeom>
        </p:spPr>
        <p:txBody>
          <a:bodyPr wrap="square" lIns="0" tIns="0" rIns="0" bIns="0" rtlCol="0" anchor="t">
            <a:spAutoFit/>
          </a:bodyPr>
          <a:lstStyle/>
          <a:p>
            <a:pPr marL="0" lvl="0" indent="0" algn="l">
              <a:lnSpc>
                <a:spcPts val="7128"/>
              </a:lnSpc>
            </a:pPr>
            <a:r>
              <a:rPr lang="en-US" sz="7274" spc="-465"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Health Insurance</a:t>
            </a:r>
          </a:p>
          <a:p>
            <a:pPr marL="0" lvl="0" indent="0" algn="l">
              <a:lnSpc>
                <a:spcPts val="7128"/>
              </a:lnSpc>
            </a:pPr>
            <a:r>
              <a:rPr lang="en-US" sz="7274" spc="-465"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Fraud Detection</a:t>
            </a:r>
          </a:p>
          <a:p>
            <a:pPr marL="0" lvl="0" indent="0" algn="l">
              <a:lnSpc>
                <a:spcPts val="7128"/>
              </a:lnSpc>
            </a:pPr>
            <a:r>
              <a:rPr lang="en-US" sz="7274" spc="-465"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Model</a:t>
            </a:r>
          </a:p>
        </p:txBody>
      </p:sp>
      <p:sp>
        <p:nvSpPr>
          <p:cNvPr id="19" name="TextBox 19"/>
          <p:cNvSpPr txBox="1"/>
          <p:nvPr/>
        </p:nvSpPr>
        <p:spPr>
          <a:xfrm>
            <a:off x="3320099" y="6154855"/>
            <a:ext cx="5696631" cy="1110415"/>
          </a:xfrm>
          <a:prstGeom prst="rect">
            <a:avLst/>
          </a:prstGeom>
        </p:spPr>
        <p:txBody>
          <a:bodyPr lIns="0" tIns="0" rIns="0" bIns="0" rtlCol="0" anchor="t">
            <a:spAutoFit/>
          </a:bodyPr>
          <a:lstStyle/>
          <a:p>
            <a:pPr marL="0" lvl="0" indent="0" algn="just">
              <a:lnSpc>
                <a:spcPts val="2905"/>
              </a:lnSpc>
            </a:pPr>
            <a:r>
              <a:rPr lang="en-US" sz="2269" spc="-6" dirty="0">
                <a:solidFill>
                  <a:srgbClr val="3A58E4"/>
                </a:solidFill>
                <a:latin typeface="Poppins"/>
                <a:ea typeface="Poppins"/>
                <a:cs typeface="Poppins"/>
                <a:sym typeface="Poppins"/>
              </a:rPr>
              <a:t>Leveraging data analytics and machine learning to identify fraudulent claims and protect healthcare systems.</a:t>
            </a:r>
          </a:p>
        </p:txBody>
      </p:sp>
      <p:sp>
        <p:nvSpPr>
          <p:cNvPr id="20" name="TextBox 20"/>
          <p:cNvSpPr txBox="1"/>
          <p:nvPr/>
        </p:nvSpPr>
        <p:spPr>
          <a:xfrm>
            <a:off x="350972" y="1968832"/>
            <a:ext cx="1704171" cy="342132"/>
          </a:xfrm>
          <a:prstGeom prst="rect">
            <a:avLst/>
          </a:prstGeom>
        </p:spPr>
        <p:txBody>
          <a:bodyPr lIns="0" tIns="0" rIns="0" bIns="0" rtlCol="0" anchor="t">
            <a:spAutoFit/>
          </a:bodyPr>
          <a:lstStyle/>
          <a:p>
            <a:pPr marL="0" lvl="0" indent="0" algn="ctr">
              <a:lnSpc>
                <a:spcPts val="2419"/>
              </a:lnSpc>
            </a:pPr>
            <a:r>
              <a:rPr lang="en-US" sz="2261" b="1">
                <a:solidFill>
                  <a:srgbClr val="FFFFFF"/>
                </a:solidFill>
                <a:latin typeface="Poppins Bold"/>
                <a:ea typeface="Poppins Bold"/>
                <a:cs typeface="Poppins Bold"/>
                <a:sym typeface="Poppins Bold"/>
              </a:rPr>
              <a:t>Health</a:t>
            </a:r>
          </a:p>
        </p:txBody>
      </p:sp>
      <p:sp>
        <p:nvSpPr>
          <p:cNvPr id="21" name="TextBox 21"/>
          <p:cNvSpPr txBox="1"/>
          <p:nvPr/>
        </p:nvSpPr>
        <p:spPr>
          <a:xfrm>
            <a:off x="360740" y="2320516"/>
            <a:ext cx="1704171" cy="322300"/>
          </a:xfrm>
          <a:prstGeom prst="rect">
            <a:avLst/>
          </a:prstGeom>
        </p:spPr>
        <p:txBody>
          <a:bodyPr lIns="0" tIns="0" rIns="0" bIns="0" rtlCol="0" anchor="t">
            <a:spAutoFit/>
          </a:bodyPr>
          <a:lstStyle/>
          <a:p>
            <a:pPr marL="0" lvl="0" indent="0" algn="ctr">
              <a:lnSpc>
                <a:spcPts val="2368"/>
              </a:lnSpc>
            </a:pPr>
            <a:r>
              <a:rPr lang="en-US" sz="2213">
                <a:solidFill>
                  <a:srgbClr val="FFFFFF"/>
                </a:solidFill>
                <a:latin typeface="Poppins"/>
                <a:ea typeface="Poppins"/>
                <a:cs typeface="Poppins"/>
                <a:sym typeface="Poppins"/>
              </a:rPr>
              <a:t>Analytics</a:t>
            </a:r>
          </a:p>
        </p:txBody>
      </p:sp>
      <p:sp>
        <p:nvSpPr>
          <p:cNvPr id="23" name="TextBox 23"/>
          <p:cNvSpPr txBox="1"/>
          <p:nvPr/>
        </p:nvSpPr>
        <p:spPr>
          <a:xfrm>
            <a:off x="360740" y="8287049"/>
            <a:ext cx="1704171" cy="312008"/>
          </a:xfrm>
          <a:prstGeom prst="rect">
            <a:avLst/>
          </a:prstGeom>
        </p:spPr>
        <p:txBody>
          <a:bodyPr lIns="0" tIns="0" rIns="0" bIns="0" rtlCol="0" anchor="t">
            <a:spAutoFit/>
          </a:bodyPr>
          <a:lstStyle/>
          <a:p>
            <a:pPr marL="0" lvl="0" indent="0" algn="ctr">
              <a:lnSpc>
                <a:spcPts val="2419"/>
              </a:lnSpc>
            </a:pPr>
            <a:endParaRPr lang="en-US" sz="2261" b="1" dirty="0">
              <a:solidFill>
                <a:srgbClr val="FFFFFF"/>
              </a:solidFill>
              <a:latin typeface="Poppins Bold"/>
              <a:ea typeface="Poppins Bold"/>
              <a:cs typeface="Poppins Bold"/>
              <a:sym typeface="Poppi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741311" y="0"/>
            <a:ext cx="546689" cy="7173190"/>
            <a:chOff x="0" y="0"/>
            <a:chExt cx="143984" cy="1889235"/>
          </a:xfrm>
        </p:grpSpPr>
        <p:sp>
          <p:nvSpPr>
            <p:cNvPr id="3" name="Freeform 3"/>
            <p:cNvSpPr/>
            <p:nvPr/>
          </p:nvSpPr>
          <p:spPr>
            <a:xfrm>
              <a:off x="0" y="0"/>
              <a:ext cx="143984" cy="1889235"/>
            </a:xfrm>
            <a:custGeom>
              <a:avLst/>
              <a:gdLst/>
              <a:ahLst/>
              <a:cxnLst/>
              <a:rect l="l" t="t" r="r" b="b"/>
              <a:pathLst>
                <a:path w="143984" h="1889235">
                  <a:moveTo>
                    <a:pt x="0" y="0"/>
                  </a:moveTo>
                  <a:lnTo>
                    <a:pt x="143984" y="0"/>
                  </a:lnTo>
                  <a:lnTo>
                    <a:pt x="143984" y="1889235"/>
                  </a:lnTo>
                  <a:lnTo>
                    <a:pt x="0" y="1889235"/>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143984" cy="192733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AutoShape 5"/>
          <p:cNvSpPr/>
          <p:nvPr/>
        </p:nvSpPr>
        <p:spPr>
          <a:xfrm flipH="1">
            <a:off x="4442685" y="0"/>
            <a:ext cx="0" cy="10287000"/>
          </a:xfrm>
          <a:prstGeom prst="line">
            <a:avLst/>
          </a:prstGeom>
          <a:ln w="19050" cap="rnd">
            <a:solidFill>
              <a:srgbClr val="3A58E4"/>
            </a:solidFill>
            <a:prstDash val="solid"/>
            <a:headEnd type="none" w="sm" len="sm"/>
            <a:tailEnd type="none" w="sm" len="sm"/>
          </a:ln>
        </p:spPr>
      </p:sp>
      <p:sp>
        <p:nvSpPr>
          <p:cNvPr id="6" name="AutoShape 6"/>
          <p:cNvSpPr/>
          <p:nvPr/>
        </p:nvSpPr>
        <p:spPr>
          <a:xfrm>
            <a:off x="8872264" y="0"/>
            <a:ext cx="0" cy="7163665"/>
          </a:xfrm>
          <a:prstGeom prst="line">
            <a:avLst/>
          </a:prstGeom>
          <a:ln w="19050" cap="rnd">
            <a:solidFill>
              <a:srgbClr val="3A58E4"/>
            </a:solidFill>
            <a:prstDash val="solid"/>
            <a:headEnd type="none" w="sm" len="sm"/>
            <a:tailEnd type="none" w="sm" len="sm"/>
          </a:ln>
        </p:spPr>
      </p:sp>
      <p:sp>
        <p:nvSpPr>
          <p:cNvPr id="7" name="AutoShape 7"/>
          <p:cNvSpPr/>
          <p:nvPr/>
        </p:nvSpPr>
        <p:spPr>
          <a:xfrm>
            <a:off x="13301844" y="0"/>
            <a:ext cx="0" cy="7163665"/>
          </a:xfrm>
          <a:prstGeom prst="line">
            <a:avLst/>
          </a:prstGeom>
          <a:ln w="19050" cap="rnd">
            <a:solidFill>
              <a:srgbClr val="3A58E4"/>
            </a:solidFill>
            <a:prstDash val="solid"/>
            <a:headEnd type="none" w="sm" len="sm"/>
            <a:tailEnd type="none" w="sm" len="sm"/>
          </a:ln>
        </p:spPr>
      </p:sp>
      <p:sp>
        <p:nvSpPr>
          <p:cNvPr id="8" name="AutoShape 8"/>
          <p:cNvSpPr/>
          <p:nvPr/>
        </p:nvSpPr>
        <p:spPr>
          <a:xfrm>
            <a:off x="0" y="7173190"/>
            <a:ext cx="18288000" cy="0"/>
          </a:xfrm>
          <a:prstGeom prst="line">
            <a:avLst/>
          </a:prstGeom>
          <a:ln w="19050" cap="rnd">
            <a:solidFill>
              <a:srgbClr val="3A58E4"/>
            </a:solidFill>
            <a:prstDash val="solid"/>
            <a:headEnd type="none" w="sm" len="sm"/>
            <a:tailEnd type="none" w="sm" len="sm"/>
          </a:ln>
        </p:spPr>
      </p:sp>
      <p:grpSp>
        <p:nvGrpSpPr>
          <p:cNvPr id="9" name="Group 9"/>
          <p:cNvGrpSpPr/>
          <p:nvPr/>
        </p:nvGrpSpPr>
        <p:grpSpPr>
          <a:xfrm>
            <a:off x="16305" y="9608"/>
            <a:ext cx="1197405" cy="1196165"/>
            <a:chOff x="0" y="0"/>
            <a:chExt cx="1596540" cy="1594886"/>
          </a:xfrm>
        </p:grpSpPr>
        <p:grpSp>
          <p:nvGrpSpPr>
            <p:cNvPr id="10" name="Group 10"/>
            <p:cNvGrpSpPr/>
            <p:nvPr/>
          </p:nvGrpSpPr>
          <p:grpSpPr>
            <a:xfrm>
              <a:off x="0" y="0"/>
              <a:ext cx="1596540" cy="1594886"/>
              <a:chOff x="0" y="0"/>
              <a:chExt cx="787566" cy="786750"/>
            </a:xfrm>
          </p:grpSpPr>
          <p:sp>
            <p:nvSpPr>
              <p:cNvPr id="11" name="Freeform 1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2" name="TextBox 12"/>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206583" y="454809"/>
              <a:ext cx="1183375" cy="770992"/>
            </a:xfrm>
            <a:prstGeom prst="rect">
              <a:avLst/>
            </a:prstGeom>
          </p:spPr>
          <p:txBody>
            <a:bodyPr lIns="0" tIns="0" rIns="0" bIns="0" rtlCol="0" anchor="t">
              <a:spAutoFit/>
            </a:bodyPr>
            <a:lstStyle/>
            <a:p>
              <a:pPr marL="0" lvl="0" indent="0" algn="ctr">
                <a:lnSpc>
                  <a:spcPts val="4156"/>
                </a:lnSpc>
              </a:pPr>
              <a:r>
                <a:rPr lang="en-US" sz="4241" spc="-271">
                  <a:solidFill>
                    <a:srgbClr val="FFFFFF"/>
                  </a:solidFill>
                  <a:latin typeface="Bricolage Grotesque"/>
                  <a:ea typeface="Bricolage Grotesque"/>
                  <a:cs typeface="Bricolage Grotesque"/>
                  <a:sym typeface="Bricolage Grotesque"/>
                </a:rPr>
                <a:t>01</a:t>
              </a:r>
            </a:p>
          </p:txBody>
        </p:sp>
      </p:grpSp>
      <p:grpSp>
        <p:nvGrpSpPr>
          <p:cNvPr id="14" name="Group 14"/>
          <p:cNvGrpSpPr/>
          <p:nvPr/>
        </p:nvGrpSpPr>
        <p:grpSpPr>
          <a:xfrm>
            <a:off x="4442685" y="9608"/>
            <a:ext cx="1197405" cy="1196165"/>
            <a:chOff x="0" y="0"/>
            <a:chExt cx="1596540" cy="1594886"/>
          </a:xfrm>
        </p:grpSpPr>
        <p:grpSp>
          <p:nvGrpSpPr>
            <p:cNvPr id="15" name="Group 15"/>
            <p:cNvGrpSpPr/>
            <p:nvPr/>
          </p:nvGrpSpPr>
          <p:grpSpPr>
            <a:xfrm>
              <a:off x="0" y="0"/>
              <a:ext cx="1596540" cy="1594886"/>
              <a:chOff x="0" y="0"/>
              <a:chExt cx="787566" cy="786750"/>
            </a:xfrm>
          </p:grpSpPr>
          <p:sp>
            <p:nvSpPr>
              <p:cNvPr id="16" name="Freeform 16"/>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7" name="TextBox 17"/>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8" name="TextBox 18"/>
            <p:cNvSpPr txBox="1"/>
            <p:nvPr/>
          </p:nvSpPr>
          <p:spPr>
            <a:xfrm>
              <a:off x="206583" y="454809"/>
              <a:ext cx="1183375" cy="770992"/>
            </a:xfrm>
            <a:prstGeom prst="rect">
              <a:avLst/>
            </a:prstGeom>
          </p:spPr>
          <p:txBody>
            <a:bodyPr lIns="0" tIns="0" rIns="0" bIns="0" rtlCol="0" anchor="t">
              <a:spAutoFit/>
            </a:bodyPr>
            <a:lstStyle/>
            <a:p>
              <a:pPr marL="0" lvl="0" indent="0" algn="ctr">
                <a:lnSpc>
                  <a:spcPts val="4156"/>
                </a:lnSpc>
              </a:pPr>
              <a:r>
                <a:rPr lang="en-US" sz="4241" spc="-271">
                  <a:solidFill>
                    <a:srgbClr val="FFFFFF"/>
                  </a:solidFill>
                  <a:latin typeface="Bricolage Grotesque"/>
                  <a:ea typeface="Bricolage Grotesque"/>
                  <a:cs typeface="Bricolage Grotesque"/>
                  <a:sym typeface="Bricolage Grotesque"/>
                </a:rPr>
                <a:t>02</a:t>
              </a:r>
            </a:p>
          </p:txBody>
        </p:sp>
      </p:grpSp>
      <p:grpSp>
        <p:nvGrpSpPr>
          <p:cNvPr id="19" name="Group 19"/>
          <p:cNvGrpSpPr/>
          <p:nvPr/>
        </p:nvGrpSpPr>
        <p:grpSpPr>
          <a:xfrm>
            <a:off x="8875845" y="9608"/>
            <a:ext cx="1197405" cy="1196165"/>
            <a:chOff x="0" y="0"/>
            <a:chExt cx="1596540" cy="1594886"/>
          </a:xfrm>
        </p:grpSpPr>
        <p:grpSp>
          <p:nvGrpSpPr>
            <p:cNvPr id="20" name="Group 20"/>
            <p:cNvGrpSpPr/>
            <p:nvPr/>
          </p:nvGrpSpPr>
          <p:grpSpPr>
            <a:xfrm>
              <a:off x="0" y="0"/>
              <a:ext cx="1596540" cy="1594886"/>
              <a:chOff x="0" y="0"/>
              <a:chExt cx="787566" cy="786750"/>
            </a:xfrm>
          </p:grpSpPr>
          <p:sp>
            <p:nvSpPr>
              <p:cNvPr id="21" name="Freeform 2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2" name="TextBox 22"/>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3" name="TextBox 23"/>
            <p:cNvSpPr txBox="1"/>
            <p:nvPr/>
          </p:nvSpPr>
          <p:spPr>
            <a:xfrm>
              <a:off x="206583" y="454809"/>
              <a:ext cx="1183375" cy="770992"/>
            </a:xfrm>
            <a:prstGeom prst="rect">
              <a:avLst/>
            </a:prstGeom>
          </p:spPr>
          <p:txBody>
            <a:bodyPr lIns="0" tIns="0" rIns="0" bIns="0" rtlCol="0" anchor="t">
              <a:spAutoFit/>
            </a:bodyPr>
            <a:lstStyle/>
            <a:p>
              <a:pPr marL="0" lvl="0" indent="0" algn="ctr">
                <a:lnSpc>
                  <a:spcPts val="4156"/>
                </a:lnSpc>
              </a:pPr>
              <a:r>
                <a:rPr lang="en-US" sz="4241" spc="-271">
                  <a:solidFill>
                    <a:srgbClr val="FFFFFF"/>
                  </a:solidFill>
                  <a:latin typeface="Bricolage Grotesque"/>
                  <a:ea typeface="Bricolage Grotesque"/>
                  <a:cs typeface="Bricolage Grotesque"/>
                  <a:sym typeface="Bricolage Grotesque"/>
                </a:rPr>
                <a:t>03</a:t>
              </a:r>
            </a:p>
          </p:txBody>
        </p:sp>
      </p:grpSp>
      <p:grpSp>
        <p:nvGrpSpPr>
          <p:cNvPr id="24" name="Group 24"/>
          <p:cNvGrpSpPr/>
          <p:nvPr/>
        </p:nvGrpSpPr>
        <p:grpSpPr>
          <a:xfrm>
            <a:off x="13309005" y="9608"/>
            <a:ext cx="1197405" cy="1196165"/>
            <a:chOff x="0" y="0"/>
            <a:chExt cx="1596540" cy="1594886"/>
          </a:xfrm>
        </p:grpSpPr>
        <p:grpSp>
          <p:nvGrpSpPr>
            <p:cNvPr id="25" name="Group 25"/>
            <p:cNvGrpSpPr/>
            <p:nvPr/>
          </p:nvGrpSpPr>
          <p:grpSpPr>
            <a:xfrm>
              <a:off x="0" y="0"/>
              <a:ext cx="1596540" cy="1594886"/>
              <a:chOff x="0" y="0"/>
              <a:chExt cx="787566" cy="786750"/>
            </a:xfrm>
          </p:grpSpPr>
          <p:sp>
            <p:nvSpPr>
              <p:cNvPr id="26" name="Freeform 26"/>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27" name="TextBox 27"/>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8" name="TextBox 28"/>
            <p:cNvSpPr txBox="1"/>
            <p:nvPr/>
          </p:nvSpPr>
          <p:spPr>
            <a:xfrm>
              <a:off x="206583" y="454809"/>
              <a:ext cx="1183375" cy="770992"/>
            </a:xfrm>
            <a:prstGeom prst="rect">
              <a:avLst/>
            </a:prstGeom>
          </p:spPr>
          <p:txBody>
            <a:bodyPr lIns="0" tIns="0" rIns="0" bIns="0" rtlCol="0" anchor="t">
              <a:spAutoFit/>
            </a:bodyPr>
            <a:lstStyle/>
            <a:p>
              <a:pPr marL="0" lvl="0" indent="0" algn="ctr">
                <a:lnSpc>
                  <a:spcPts val="4156"/>
                </a:lnSpc>
              </a:pPr>
              <a:r>
                <a:rPr lang="en-US" sz="4241" spc="-271">
                  <a:solidFill>
                    <a:srgbClr val="FFFFFF"/>
                  </a:solidFill>
                  <a:latin typeface="Bricolage Grotesque"/>
                  <a:ea typeface="Bricolage Grotesque"/>
                  <a:cs typeface="Bricolage Grotesque"/>
                  <a:sym typeface="Bricolage Grotesque"/>
                </a:rPr>
                <a:t>04</a:t>
              </a:r>
            </a:p>
          </p:txBody>
        </p:sp>
      </p:grpSp>
      <p:sp>
        <p:nvSpPr>
          <p:cNvPr id="29" name="Freeform 29"/>
          <p:cNvSpPr/>
          <p:nvPr/>
        </p:nvSpPr>
        <p:spPr>
          <a:xfrm>
            <a:off x="10659668" y="1845050"/>
            <a:ext cx="908037" cy="872386"/>
          </a:xfrm>
          <a:custGeom>
            <a:avLst/>
            <a:gdLst/>
            <a:ahLst/>
            <a:cxnLst/>
            <a:rect l="l" t="t" r="r" b="b"/>
            <a:pathLst>
              <a:path w="908037" h="872386">
                <a:moveTo>
                  <a:pt x="0" y="0"/>
                </a:moveTo>
                <a:lnTo>
                  <a:pt x="908037" y="0"/>
                </a:lnTo>
                <a:lnTo>
                  <a:pt x="908037" y="872386"/>
                </a:lnTo>
                <a:lnTo>
                  <a:pt x="0" y="872386"/>
                </a:lnTo>
                <a:lnTo>
                  <a:pt x="0" y="0"/>
                </a:lnTo>
                <a:close/>
              </a:path>
            </a:pathLst>
          </a:custGeom>
          <a:blipFill>
            <a:blip r:embed="rId2"/>
            <a:stretch>
              <a:fillRect/>
            </a:stretch>
          </a:blipFill>
        </p:spPr>
      </p:sp>
      <p:sp>
        <p:nvSpPr>
          <p:cNvPr id="30" name="Freeform 30"/>
          <p:cNvSpPr/>
          <p:nvPr/>
        </p:nvSpPr>
        <p:spPr>
          <a:xfrm rot="-5400000">
            <a:off x="15154203" y="1848069"/>
            <a:ext cx="695352" cy="897613"/>
          </a:xfrm>
          <a:custGeom>
            <a:avLst/>
            <a:gdLst/>
            <a:ahLst/>
            <a:cxnLst/>
            <a:rect l="l" t="t" r="r" b="b"/>
            <a:pathLst>
              <a:path w="695352" h="897613">
                <a:moveTo>
                  <a:pt x="0" y="0"/>
                </a:moveTo>
                <a:lnTo>
                  <a:pt x="695352" y="0"/>
                </a:lnTo>
                <a:lnTo>
                  <a:pt x="695352" y="897613"/>
                </a:lnTo>
                <a:lnTo>
                  <a:pt x="0" y="897613"/>
                </a:lnTo>
                <a:lnTo>
                  <a:pt x="0" y="0"/>
                </a:lnTo>
                <a:close/>
              </a:path>
            </a:pathLst>
          </a:custGeom>
          <a:blipFill>
            <a:blip r:embed="rId3"/>
            <a:stretch>
              <a:fillRect/>
            </a:stretch>
          </a:blipFill>
        </p:spPr>
      </p:sp>
      <p:sp>
        <p:nvSpPr>
          <p:cNvPr id="31" name="Freeform 31"/>
          <p:cNvSpPr/>
          <p:nvPr/>
        </p:nvSpPr>
        <p:spPr>
          <a:xfrm>
            <a:off x="1854226" y="1882917"/>
            <a:ext cx="764291" cy="888115"/>
          </a:xfrm>
          <a:custGeom>
            <a:avLst/>
            <a:gdLst/>
            <a:ahLst/>
            <a:cxnLst/>
            <a:rect l="l" t="t" r="r" b="b"/>
            <a:pathLst>
              <a:path w="764291" h="888115">
                <a:moveTo>
                  <a:pt x="0" y="0"/>
                </a:moveTo>
                <a:lnTo>
                  <a:pt x="764291" y="0"/>
                </a:lnTo>
                <a:lnTo>
                  <a:pt x="764291" y="888115"/>
                </a:lnTo>
                <a:lnTo>
                  <a:pt x="0" y="888115"/>
                </a:lnTo>
                <a:lnTo>
                  <a:pt x="0" y="0"/>
                </a:lnTo>
                <a:close/>
              </a:path>
            </a:pathLst>
          </a:custGeom>
          <a:blipFill>
            <a:blip r:embed="rId4"/>
            <a:stretch>
              <a:fillRect/>
            </a:stretch>
          </a:blipFill>
        </p:spPr>
      </p:sp>
      <p:grpSp>
        <p:nvGrpSpPr>
          <p:cNvPr id="32" name="Group 32"/>
          <p:cNvGrpSpPr/>
          <p:nvPr/>
        </p:nvGrpSpPr>
        <p:grpSpPr>
          <a:xfrm>
            <a:off x="1028700" y="8125800"/>
            <a:ext cx="22757" cy="975106"/>
            <a:chOff x="0" y="0"/>
            <a:chExt cx="12543" cy="537460"/>
          </a:xfrm>
        </p:grpSpPr>
        <p:sp>
          <p:nvSpPr>
            <p:cNvPr id="33" name="Freeform 3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34" name="TextBox 3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35" name="Group 35"/>
          <p:cNvGrpSpPr/>
          <p:nvPr/>
        </p:nvGrpSpPr>
        <p:grpSpPr>
          <a:xfrm>
            <a:off x="-9525" y="7173190"/>
            <a:ext cx="546689" cy="3113810"/>
            <a:chOff x="0" y="0"/>
            <a:chExt cx="143984" cy="820098"/>
          </a:xfrm>
        </p:grpSpPr>
        <p:sp>
          <p:nvSpPr>
            <p:cNvPr id="36" name="Freeform 36"/>
            <p:cNvSpPr/>
            <p:nvPr/>
          </p:nvSpPr>
          <p:spPr>
            <a:xfrm>
              <a:off x="0" y="0"/>
              <a:ext cx="143984" cy="820098"/>
            </a:xfrm>
            <a:custGeom>
              <a:avLst/>
              <a:gdLst/>
              <a:ahLst/>
              <a:cxnLst/>
              <a:rect l="l" t="t" r="r" b="b"/>
              <a:pathLst>
                <a:path w="143984" h="820098">
                  <a:moveTo>
                    <a:pt x="0" y="0"/>
                  </a:moveTo>
                  <a:lnTo>
                    <a:pt x="143984" y="0"/>
                  </a:lnTo>
                  <a:lnTo>
                    <a:pt x="143984" y="820098"/>
                  </a:lnTo>
                  <a:lnTo>
                    <a:pt x="0" y="820098"/>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37" name="TextBox 37"/>
            <p:cNvSpPr txBox="1"/>
            <p:nvPr/>
          </p:nvSpPr>
          <p:spPr>
            <a:xfrm>
              <a:off x="0" y="-38100"/>
              <a:ext cx="143984" cy="85819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8" name="Freeform 38"/>
          <p:cNvSpPr/>
          <p:nvPr/>
        </p:nvSpPr>
        <p:spPr>
          <a:xfrm>
            <a:off x="6114089" y="1513586"/>
            <a:ext cx="1159493" cy="1316621"/>
          </a:xfrm>
          <a:custGeom>
            <a:avLst/>
            <a:gdLst/>
            <a:ahLst/>
            <a:cxnLst/>
            <a:rect l="l" t="t" r="r" b="b"/>
            <a:pathLst>
              <a:path w="1159493" h="1316621">
                <a:moveTo>
                  <a:pt x="0" y="0"/>
                </a:moveTo>
                <a:lnTo>
                  <a:pt x="1159493" y="0"/>
                </a:lnTo>
                <a:lnTo>
                  <a:pt x="1159493" y="1316621"/>
                </a:lnTo>
                <a:lnTo>
                  <a:pt x="0" y="1316621"/>
                </a:lnTo>
                <a:lnTo>
                  <a:pt x="0" y="0"/>
                </a:lnTo>
                <a:close/>
              </a:path>
            </a:pathLst>
          </a:custGeom>
          <a:blipFill>
            <a:blip r:embed="rId5"/>
            <a:stretch>
              <a:fillRect/>
            </a:stretch>
          </a:blipFill>
        </p:spPr>
      </p:sp>
      <p:sp>
        <p:nvSpPr>
          <p:cNvPr id="39" name="TextBox 39"/>
          <p:cNvSpPr txBox="1"/>
          <p:nvPr/>
        </p:nvSpPr>
        <p:spPr>
          <a:xfrm>
            <a:off x="562973" y="4475524"/>
            <a:ext cx="3336787" cy="1843110"/>
          </a:xfrm>
          <a:prstGeom prst="rect">
            <a:avLst/>
          </a:prstGeom>
        </p:spPr>
        <p:txBody>
          <a:bodyPr lIns="0" tIns="0" rIns="0" bIns="0" rtlCol="0" anchor="t">
            <a:spAutoFit/>
          </a:bodyPr>
          <a:lstStyle/>
          <a:p>
            <a:pPr marL="0" lvl="0" indent="0" algn="just">
              <a:lnSpc>
                <a:spcPts val="2435"/>
              </a:lnSpc>
            </a:pPr>
            <a:r>
              <a:rPr lang="en-US" sz="1873" spc="-5">
                <a:solidFill>
                  <a:srgbClr val="3A58E4"/>
                </a:solidFill>
                <a:latin typeface="Poppins"/>
                <a:ea typeface="Poppins"/>
                <a:cs typeface="Poppins"/>
                <a:sym typeface="Poppins"/>
              </a:rPr>
              <a:t>Detect over-billing and phantom billing patterns by analyzing discrepancies between Claim_Amount and Approved_Amount to reduce financial losses.</a:t>
            </a:r>
          </a:p>
        </p:txBody>
      </p:sp>
      <p:sp>
        <p:nvSpPr>
          <p:cNvPr id="40" name="TextBox 40"/>
          <p:cNvSpPr txBox="1"/>
          <p:nvPr/>
        </p:nvSpPr>
        <p:spPr>
          <a:xfrm>
            <a:off x="4989081" y="4780324"/>
            <a:ext cx="3336787" cy="1538310"/>
          </a:xfrm>
          <a:prstGeom prst="rect">
            <a:avLst/>
          </a:prstGeom>
        </p:spPr>
        <p:txBody>
          <a:bodyPr lIns="0" tIns="0" rIns="0" bIns="0" rtlCol="0" anchor="t">
            <a:spAutoFit/>
          </a:bodyPr>
          <a:lstStyle/>
          <a:p>
            <a:pPr marL="0" lvl="0" indent="0" algn="just">
              <a:lnSpc>
                <a:spcPts val="2435"/>
              </a:lnSpc>
            </a:pPr>
            <a:r>
              <a:rPr lang="en-US" sz="1873" spc="-5">
                <a:solidFill>
                  <a:srgbClr val="3A58E4"/>
                </a:solidFill>
                <a:latin typeface="Poppins"/>
                <a:ea typeface="Poppins"/>
                <a:cs typeface="Poppins"/>
                <a:sym typeface="Poppins"/>
              </a:rPr>
              <a:t>Analyze Provider_ID data and claim volume patterns to identify high-risk providers with suspicious billing behaviors.</a:t>
            </a:r>
          </a:p>
        </p:txBody>
      </p:sp>
      <p:sp>
        <p:nvSpPr>
          <p:cNvPr id="41" name="TextBox 41"/>
          <p:cNvSpPr txBox="1"/>
          <p:nvPr/>
        </p:nvSpPr>
        <p:spPr>
          <a:xfrm>
            <a:off x="9415189" y="4780324"/>
            <a:ext cx="3336787" cy="1538310"/>
          </a:xfrm>
          <a:prstGeom prst="rect">
            <a:avLst/>
          </a:prstGeom>
        </p:spPr>
        <p:txBody>
          <a:bodyPr lIns="0" tIns="0" rIns="0" bIns="0" rtlCol="0" anchor="t">
            <a:spAutoFit/>
          </a:bodyPr>
          <a:lstStyle/>
          <a:p>
            <a:pPr marL="0" lvl="0" indent="0" algn="just">
              <a:lnSpc>
                <a:spcPts val="2435"/>
              </a:lnSpc>
            </a:pPr>
            <a:r>
              <a:rPr lang="en-US" sz="1873" spc="-5">
                <a:solidFill>
                  <a:srgbClr val="3A58E4"/>
                </a:solidFill>
                <a:latin typeface="Poppins"/>
                <a:ea typeface="Poppins"/>
                <a:cs typeface="Poppins"/>
                <a:sym typeface="Poppins"/>
              </a:rPr>
              <a:t>Build automated systems to flag potentially fraudulent claims (Is_Fraud = 1) reducing manual review workload.</a:t>
            </a:r>
          </a:p>
        </p:txBody>
      </p:sp>
      <p:sp>
        <p:nvSpPr>
          <p:cNvPr id="42" name="TextBox 42"/>
          <p:cNvSpPr txBox="1"/>
          <p:nvPr/>
        </p:nvSpPr>
        <p:spPr>
          <a:xfrm>
            <a:off x="13844769" y="5085124"/>
            <a:ext cx="3336787" cy="1233510"/>
          </a:xfrm>
          <a:prstGeom prst="rect">
            <a:avLst/>
          </a:prstGeom>
        </p:spPr>
        <p:txBody>
          <a:bodyPr lIns="0" tIns="0" rIns="0" bIns="0" rtlCol="0" anchor="t">
            <a:spAutoFit/>
          </a:bodyPr>
          <a:lstStyle/>
          <a:p>
            <a:pPr marL="0" lvl="0" indent="0" algn="just">
              <a:lnSpc>
                <a:spcPts val="2435"/>
              </a:lnSpc>
            </a:pPr>
            <a:r>
              <a:rPr lang="en-US" sz="1873" spc="-5">
                <a:solidFill>
                  <a:srgbClr val="3A58E4"/>
                </a:solidFill>
                <a:latin typeface="Poppins"/>
                <a:ea typeface="Poppins"/>
                <a:cs typeface="Poppins"/>
                <a:sym typeface="Poppins"/>
              </a:rPr>
              <a:t>Streamline the auditing process with machine learning to prioritize claims requiring investigation.</a:t>
            </a:r>
          </a:p>
        </p:txBody>
      </p:sp>
      <p:sp>
        <p:nvSpPr>
          <p:cNvPr id="43" name="TextBox 43"/>
          <p:cNvSpPr txBox="1"/>
          <p:nvPr/>
        </p:nvSpPr>
        <p:spPr>
          <a:xfrm>
            <a:off x="1137678" y="8063749"/>
            <a:ext cx="2762082" cy="1194551"/>
          </a:xfrm>
          <a:prstGeom prst="rect">
            <a:avLst/>
          </a:prstGeom>
        </p:spPr>
        <p:txBody>
          <a:bodyPr lIns="0" tIns="0" rIns="0" bIns="0" rtlCol="0" anchor="t">
            <a:spAutoFit/>
          </a:bodyPr>
          <a:lstStyle/>
          <a:p>
            <a:pPr marL="0" lvl="0" indent="0" algn="l">
              <a:lnSpc>
                <a:spcPts val="4585"/>
              </a:lnSpc>
            </a:pPr>
            <a:r>
              <a:rPr lang="en-US" sz="4679" spc="-299">
                <a:gradFill>
                  <a:gsLst>
                    <a:gs pos="0">
                      <a:srgbClr val="3A58E4">
                        <a:alpha val="100000"/>
                      </a:srgbClr>
                    </a:gs>
                    <a:gs pos="100000">
                      <a:srgbClr val="293E9C">
                        <a:alpha val="100000"/>
                      </a:srgbClr>
                    </a:gs>
                  </a:gsLst>
                  <a:path path="circle">
                    <a:fillToRect r="100000" b="100000"/>
                  </a:path>
                  <a:tileRect l="-100000" t="-100000"/>
                </a:gradFill>
                <a:latin typeface="Bricolage Grotesque"/>
                <a:ea typeface="Bricolage Grotesque"/>
                <a:cs typeface="Bricolage Grotesque"/>
                <a:sym typeface="Bricolage Grotesque"/>
              </a:rPr>
              <a:t>Project Objectives</a:t>
            </a:r>
          </a:p>
        </p:txBody>
      </p:sp>
      <p:sp>
        <p:nvSpPr>
          <p:cNvPr id="44" name="TextBox 44"/>
          <p:cNvSpPr txBox="1"/>
          <p:nvPr/>
        </p:nvSpPr>
        <p:spPr>
          <a:xfrm>
            <a:off x="4989081" y="8088378"/>
            <a:ext cx="7762895" cy="1012528"/>
          </a:xfrm>
          <a:prstGeom prst="rect">
            <a:avLst/>
          </a:prstGeom>
        </p:spPr>
        <p:txBody>
          <a:bodyPr lIns="0" tIns="0" rIns="0" bIns="0" rtlCol="0" anchor="t">
            <a:spAutoFit/>
          </a:bodyPr>
          <a:lstStyle/>
          <a:p>
            <a:pPr marL="0" lvl="0" indent="0" algn="just">
              <a:lnSpc>
                <a:spcPts val="2660"/>
              </a:lnSpc>
            </a:pPr>
            <a:r>
              <a:rPr lang="en-US" sz="1900" spc="-5">
                <a:solidFill>
                  <a:srgbClr val="3A58E4"/>
                </a:solidFill>
                <a:latin typeface="Poppins"/>
                <a:ea typeface="Poppins"/>
                <a:cs typeface="Poppins"/>
                <a:sym typeface="Poppins"/>
              </a:rPr>
              <a:t>Our fraud detection model aims to protect healthcare systems from financial losses while improving operational efficiency through data-driven automation and risk identification.</a:t>
            </a:r>
          </a:p>
        </p:txBody>
      </p:sp>
      <p:sp>
        <p:nvSpPr>
          <p:cNvPr id="45" name="TextBox 45"/>
          <p:cNvSpPr txBox="1"/>
          <p:nvPr/>
        </p:nvSpPr>
        <p:spPr>
          <a:xfrm>
            <a:off x="512270" y="3090400"/>
            <a:ext cx="3438193" cy="825162"/>
          </a:xfrm>
          <a:prstGeom prst="rect">
            <a:avLst/>
          </a:prstGeom>
        </p:spPr>
        <p:txBody>
          <a:bodyPr lIns="0" tIns="0" rIns="0" bIns="0" rtlCol="0" anchor="t">
            <a:spAutoFit/>
          </a:bodyPr>
          <a:lstStyle/>
          <a:p>
            <a:pPr marL="0" lvl="0" indent="0" algn="ctr">
              <a:lnSpc>
                <a:spcPts val="3343"/>
              </a:lnSpc>
              <a:spcBef>
                <a:spcPct val="0"/>
              </a:spcBef>
            </a:pPr>
            <a:r>
              <a:rPr lang="en-US" sz="2388"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MINIMIZE FINANCIAL LOSS</a:t>
            </a:r>
          </a:p>
        </p:txBody>
      </p:sp>
      <p:sp>
        <p:nvSpPr>
          <p:cNvPr id="46" name="TextBox 46"/>
          <p:cNvSpPr txBox="1"/>
          <p:nvPr/>
        </p:nvSpPr>
        <p:spPr>
          <a:xfrm>
            <a:off x="4938378" y="3090400"/>
            <a:ext cx="3438193" cy="825162"/>
          </a:xfrm>
          <a:prstGeom prst="rect">
            <a:avLst/>
          </a:prstGeom>
        </p:spPr>
        <p:txBody>
          <a:bodyPr lIns="0" tIns="0" rIns="0" bIns="0" rtlCol="0" anchor="t">
            <a:spAutoFit/>
          </a:bodyPr>
          <a:lstStyle/>
          <a:p>
            <a:pPr marL="0" lvl="0" indent="0" algn="ctr">
              <a:lnSpc>
                <a:spcPts val="3343"/>
              </a:lnSpc>
              <a:spcBef>
                <a:spcPct val="0"/>
              </a:spcBef>
            </a:pPr>
            <a:r>
              <a:rPr lang="en-US" sz="2388"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IDENTIFY HIGH-RISK PROVIDERS</a:t>
            </a:r>
          </a:p>
        </p:txBody>
      </p:sp>
      <p:sp>
        <p:nvSpPr>
          <p:cNvPr id="47" name="TextBox 47"/>
          <p:cNvSpPr txBox="1"/>
          <p:nvPr/>
        </p:nvSpPr>
        <p:spPr>
          <a:xfrm>
            <a:off x="9364486" y="3090400"/>
            <a:ext cx="3438193" cy="825162"/>
          </a:xfrm>
          <a:prstGeom prst="rect">
            <a:avLst/>
          </a:prstGeom>
        </p:spPr>
        <p:txBody>
          <a:bodyPr lIns="0" tIns="0" rIns="0" bIns="0" rtlCol="0" anchor="t">
            <a:spAutoFit/>
          </a:bodyPr>
          <a:lstStyle/>
          <a:p>
            <a:pPr marL="0" lvl="0" indent="0" algn="ctr">
              <a:lnSpc>
                <a:spcPts val="3343"/>
              </a:lnSpc>
            </a:pPr>
            <a:r>
              <a:rPr lang="en-US" sz="2388"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AUTOMATE FRAUD FLAGGING</a:t>
            </a:r>
          </a:p>
        </p:txBody>
      </p:sp>
      <p:sp>
        <p:nvSpPr>
          <p:cNvPr id="48" name="TextBox 48"/>
          <p:cNvSpPr txBox="1"/>
          <p:nvPr/>
        </p:nvSpPr>
        <p:spPr>
          <a:xfrm>
            <a:off x="13794066" y="3090400"/>
            <a:ext cx="3438193" cy="825162"/>
          </a:xfrm>
          <a:prstGeom prst="rect">
            <a:avLst/>
          </a:prstGeom>
        </p:spPr>
        <p:txBody>
          <a:bodyPr lIns="0" tIns="0" rIns="0" bIns="0" rtlCol="0" anchor="t">
            <a:spAutoFit/>
          </a:bodyPr>
          <a:lstStyle/>
          <a:p>
            <a:pPr marL="0" lvl="0" indent="0" algn="ctr">
              <a:lnSpc>
                <a:spcPts val="3343"/>
              </a:lnSpc>
            </a:pPr>
            <a:r>
              <a:rPr lang="en-US" sz="2388" b="1" spc="-152">
                <a:gradFill>
                  <a:gsLst>
                    <a:gs pos="0">
                      <a:srgbClr val="3A58E4">
                        <a:alpha val="100000"/>
                      </a:srgbClr>
                    </a:gs>
                    <a:gs pos="100000">
                      <a:srgbClr val="293E9C">
                        <a:alpha val="100000"/>
                      </a:srgbClr>
                    </a:gs>
                  </a:gsLst>
                  <a:path path="circle">
                    <a:fillToRect r="100000" b="100000"/>
                  </a:path>
                  <a:tileRect l="-100000" t="-100000"/>
                </a:gradFill>
                <a:latin typeface="Bricolage Grotesque Bold"/>
                <a:ea typeface="Bricolage Grotesque Bold"/>
                <a:cs typeface="Bricolage Grotesque Bold"/>
                <a:sym typeface="Bricolage Grotesque Bold"/>
              </a:rPr>
              <a:t>STREAMLINE AUDITING PROCESS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6766" y="1400445"/>
            <a:ext cx="5217559" cy="2327699"/>
          </a:xfrm>
          <a:prstGeom prst="rect">
            <a:avLst/>
          </a:prstGeom>
        </p:spPr>
        <p:txBody>
          <a:bodyPr lIns="0" tIns="0" rIns="0" bIns="0" rtlCol="0" anchor="t">
            <a:spAutoFit/>
          </a:bodyPr>
          <a:lstStyle/>
          <a:p>
            <a:pPr marL="0" lvl="0" indent="0" algn="l">
              <a:lnSpc>
                <a:spcPts val="8965"/>
              </a:lnSpc>
            </a:pPr>
            <a:r>
              <a:rPr lang="en-US" sz="9148" spc="-585">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Challenges Faced</a:t>
            </a:r>
          </a:p>
        </p:txBody>
      </p:sp>
      <p:grpSp>
        <p:nvGrpSpPr>
          <p:cNvPr id="3" name="Group 3"/>
          <p:cNvGrpSpPr/>
          <p:nvPr/>
        </p:nvGrpSpPr>
        <p:grpSpPr>
          <a:xfrm>
            <a:off x="1028700" y="1358088"/>
            <a:ext cx="47625" cy="2040668"/>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028700" y="4312874"/>
            <a:ext cx="8172450" cy="379246"/>
            <a:chOff x="0" y="0"/>
            <a:chExt cx="10896600" cy="505662"/>
          </a:xfrm>
        </p:grpSpPr>
        <p:sp>
          <p:nvSpPr>
            <p:cNvPr id="7" name="TextBox 7"/>
            <p:cNvSpPr txBox="1"/>
            <p:nvPr/>
          </p:nvSpPr>
          <p:spPr>
            <a:xfrm>
              <a:off x="0" y="-49117"/>
              <a:ext cx="10820400" cy="554779"/>
            </a:xfrm>
            <a:prstGeom prst="rect">
              <a:avLst/>
            </a:prstGeom>
          </p:spPr>
          <p:txBody>
            <a:bodyPr lIns="0" tIns="0" rIns="0" bIns="0" rtlCol="0" anchor="t">
              <a:spAutoFit/>
            </a:bodyPr>
            <a:lstStyle/>
            <a:p>
              <a:pPr marL="0" lvl="0" indent="0" algn="l">
                <a:lnSpc>
                  <a:spcPts val="3316"/>
                </a:lnSpc>
              </a:pPr>
              <a:r>
                <a:rPr lang="en-US" sz="2368"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KEY PROBLEMS ENCOUNTERED DURING MODEL BUILDING</a:t>
              </a:r>
            </a:p>
          </p:txBody>
        </p:sp>
        <p:sp>
          <p:nvSpPr>
            <p:cNvPr id="8" name="Freeform 8"/>
            <p:cNvSpPr/>
            <p:nvPr/>
          </p:nvSpPr>
          <p:spPr>
            <a:xfrm rot="-8687136">
              <a:off x="10579580"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9" name="Group 9"/>
          <p:cNvGrpSpPr/>
          <p:nvPr/>
        </p:nvGrpSpPr>
        <p:grpSpPr>
          <a:xfrm>
            <a:off x="16438046" y="129"/>
            <a:ext cx="1849954" cy="1848037"/>
            <a:chOff x="0" y="0"/>
            <a:chExt cx="2466605" cy="2464050"/>
          </a:xfrm>
        </p:grpSpPr>
        <p:grpSp>
          <p:nvGrpSpPr>
            <p:cNvPr id="10" name="Group 10"/>
            <p:cNvGrpSpPr/>
            <p:nvPr/>
          </p:nvGrpSpPr>
          <p:grpSpPr>
            <a:xfrm>
              <a:off x="0" y="0"/>
              <a:ext cx="2466605" cy="2464050"/>
              <a:chOff x="0" y="0"/>
              <a:chExt cx="787566" cy="786750"/>
            </a:xfrm>
          </p:grpSpPr>
          <p:sp>
            <p:nvSpPr>
              <p:cNvPr id="11" name="Freeform 11"/>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82485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319164" y="694049"/>
              <a:ext cx="1828278" cy="1199777"/>
            </a:xfrm>
            <a:prstGeom prst="rect">
              <a:avLst/>
            </a:prstGeom>
          </p:spPr>
          <p:txBody>
            <a:bodyPr lIns="0" tIns="0" rIns="0" bIns="0" rtlCol="0" anchor="t">
              <a:spAutoFit/>
            </a:bodyPr>
            <a:lstStyle/>
            <a:p>
              <a:pPr marL="0" lvl="0" indent="0" algn="ctr">
                <a:lnSpc>
                  <a:spcPts val="6421"/>
                </a:lnSpc>
              </a:pPr>
              <a:r>
                <a:rPr lang="en-US" sz="6552" spc="-419">
                  <a:solidFill>
                    <a:srgbClr val="FFFFFF"/>
                  </a:solidFill>
                  <a:latin typeface="Bricolage Grotesque"/>
                  <a:ea typeface="Bricolage Grotesque"/>
                  <a:cs typeface="Bricolage Grotesque"/>
                  <a:sym typeface="Bricolage Grotesque"/>
                </a:rPr>
                <a:t>03</a:t>
              </a:r>
            </a:p>
          </p:txBody>
        </p:sp>
      </p:grpSp>
      <p:sp>
        <p:nvSpPr>
          <p:cNvPr id="14" name="Freeform 14"/>
          <p:cNvSpPr/>
          <p:nvPr/>
        </p:nvSpPr>
        <p:spPr>
          <a:xfrm>
            <a:off x="10060300" y="2509222"/>
            <a:ext cx="6644390" cy="6841070"/>
          </a:xfrm>
          <a:custGeom>
            <a:avLst/>
            <a:gdLst/>
            <a:ahLst/>
            <a:cxnLst/>
            <a:rect l="l" t="t" r="r" b="b"/>
            <a:pathLst>
              <a:path w="6644390" h="6841070">
                <a:moveTo>
                  <a:pt x="0" y="0"/>
                </a:moveTo>
                <a:lnTo>
                  <a:pt x="6644390" y="0"/>
                </a:lnTo>
                <a:lnTo>
                  <a:pt x="6644390" y="6841070"/>
                </a:lnTo>
                <a:lnTo>
                  <a:pt x="0" y="6841070"/>
                </a:lnTo>
                <a:lnTo>
                  <a:pt x="0" y="0"/>
                </a:lnTo>
                <a:close/>
              </a:path>
            </a:pathLst>
          </a:custGeom>
          <a:blipFill>
            <a:blip r:embed="rId4"/>
            <a:stretch>
              <a:fillRect/>
            </a:stretch>
          </a:blipFill>
        </p:spPr>
      </p:sp>
      <p:sp>
        <p:nvSpPr>
          <p:cNvPr id="15" name="TextBox 15"/>
          <p:cNvSpPr txBox="1"/>
          <p:nvPr/>
        </p:nvSpPr>
        <p:spPr>
          <a:xfrm>
            <a:off x="1870201" y="5263178"/>
            <a:ext cx="7273799" cy="753608"/>
          </a:xfrm>
          <a:prstGeom prst="rect">
            <a:avLst/>
          </a:prstGeom>
        </p:spPr>
        <p:txBody>
          <a:bodyPr lIns="0" tIns="0" rIns="0" bIns="0" rtlCol="0" anchor="t">
            <a:spAutoFit/>
          </a:bodyPr>
          <a:lstStyle/>
          <a:p>
            <a:pPr marL="0" lvl="0" indent="0" algn="just">
              <a:lnSpc>
                <a:spcPts val="2955"/>
              </a:lnSpc>
            </a:pPr>
            <a:r>
              <a:rPr lang="en-US" sz="2111" spc="-52">
                <a:solidFill>
                  <a:srgbClr val="3A58E4"/>
                </a:solidFill>
                <a:latin typeface="Poppins"/>
                <a:ea typeface="Poppins"/>
                <a:cs typeface="Poppins"/>
                <a:sym typeface="Poppins"/>
              </a:rPr>
              <a:t>Class imbalance: fraud cases represent &lt;5% of data, risking biased predictions toward "Normal".</a:t>
            </a:r>
          </a:p>
        </p:txBody>
      </p:sp>
      <p:sp>
        <p:nvSpPr>
          <p:cNvPr id="16" name="TextBox 16"/>
          <p:cNvSpPr txBox="1"/>
          <p:nvPr/>
        </p:nvSpPr>
        <p:spPr>
          <a:xfrm>
            <a:off x="1870201" y="6254470"/>
            <a:ext cx="7273799" cy="753608"/>
          </a:xfrm>
          <a:prstGeom prst="rect">
            <a:avLst/>
          </a:prstGeom>
        </p:spPr>
        <p:txBody>
          <a:bodyPr lIns="0" tIns="0" rIns="0" bIns="0" rtlCol="0" anchor="t">
            <a:spAutoFit/>
          </a:bodyPr>
          <a:lstStyle/>
          <a:p>
            <a:pPr marL="0" lvl="0" indent="0" algn="just">
              <a:lnSpc>
                <a:spcPts val="2955"/>
              </a:lnSpc>
            </a:pPr>
            <a:r>
              <a:rPr lang="en-US" sz="2111" spc="-52">
                <a:solidFill>
                  <a:srgbClr val="3A58E4"/>
                </a:solidFill>
                <a:latin typeface="Poppins"/>
                <a:ea typeface="Poppins"/>
                <a:cs typeface="Poppins"/>
                <a:sym typeface="Poppins"/>
              </a:rPr>
              <a:t>Feature complexity: high-cardinality categorical variables like Diagnosis_Code and Procedure_Code.</a:t>
            </a:r>
          </a:p>
        </p:txBody>
      </p:sp>
      <p:sp>
        <p:nvSpPr>
          <p:cNvPr id="17" name="TextBox 17"/>
          <p:cNvSpPr txBox="1"/>
          <p:nvPr/>
        </p:nvSpPr>
        <p:spPr>
          <a:xfrm>
            <a:off x="1870201" y="7245761"/>
            <a:ext cx="7273799" cy="753608"/>
          </a:xfrm>
          <a:prstGeom prst="rect">
            <a:avLst/>
          </a:prstGeom>
        </p:spPr>
        <p:txBody>
          <a:bodyPr lIns="0" tIns="0" rIns="0" bIns="0" rtlCol="0" anchor="t">
            <a:spAutoFit/>
          </a:bodyPr>
          <a:lstStyle/>
          <a:p>
            <a:pPr marL="0" lvl="0" indent="0" algn="just">
              <a:lnSpc>
                <a:spcPts val="2955"/>
              </a:lnSpc>
            </a:pPr>
            <a:r>
              <a:rPr lang="en-US" sz="2111" spc="-52">
                <a:solidFill>
                  <a:srgbClr val="3A58E4"/>
                </a:solidFill>
                <a:latin typeface="Poppins"/>
                <a:ea typeface="Poppins"/>
                <a:cs typeface="Poppins"/>
                <a:sym typeface="Poppins"/>
              </a:rPr>
              <a:t>Temporal dynamics: evolving fraud patterns require extracting useful features from Claim_Submission_Date.</a:t>
            </a:r>
          </a:p>
        </p:txBody>
      </p:sp>
      <p:sp>
        <p:nvSpPr>
          <p:cNvPr id="18" name="TextBox 18"/>
          <p:cNvSpPr txBox="1"/>
          <p:nvPr/>
        </p:nvSpPr>
        <p:spPr>
          <a:xfrm>
            <a:off x="1870201" y="8237053"/>
            <a:ext cx="7273799" cy="753608"/>
          </a:xfrm>
          <a:prstGeom prst="rect">
            <a:avLst/>
          </a:prstGeom>
        </p:spPr>
        <p:txBody>
          <a:bodyPr lIns="0" tIns="0" rIns="0" bIns="0" rtlCol="0" anchor="t">
            <a:spAutoFit/>
          </a:bodyPr>
          <a:lstStyle/>
          <a:p>
            <a:pPr marL="0" lvl="0" indent="0" algn="just">
              <a:lnSpc>
                <a:spcPts val="2955"/>
              </a:lnSpc>
            </a:pPr>
            <a:r>
              <a:rPr lang="en-US" sz="2111" spc="-52">
                <a:solidFill>
                  <a:srgbClr val="3A58E4"/>
                </a:solidFill>
                <a:latin typeface="Poppins"/>
                <a:ea typeface="Poppins"/>
                <a:cs typeface="Poppins"/>
                <a:sym typeface="Poppins"/>
              </a:rPr>
              <a:t>Data leakage: ensuring no post-investigation information is used during model training.</a:t>
            </a:r>
          </a:p>
        </p:txBody>
      </p:sp>
      <p:sp>
        <p:nvSpPr>
          <p:cNvPr id="19" name="Freeform 19"/>
          <p:cNvSpPr/>
          <p:nvPr/>
        </p:nvSpPr>
        <p:spPr>
          <a:xfrm>
            <a:off x="1052512" y="5400430"/>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Freeform 20"/>
          <p:cNvSpPr/>
          <p:nvPr/>
        </p:nvSpPr>
        <p:spPr>
          <a:xfrm>
            <a:off x="1052512" y="6391722"/>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1"/>
          <p:cNvSpPr/>
          <p:nvPr/>
        </p:nvSpPr>
        <p:spPr>
          <a:xfrm>
            <a:off x="1052512" y="7383013"/>
            <a:ext cx="489071" cy="489071"/>
          </a:xfrm>
          <a:custGeom>
            <a:avLst/>
            <a:gdLst/>
            <a:ahLst/>
            <a:cxnLst/>
            <a:rect l="l" t="t" r="r" b="b"/>
            <a:pathLst>
              <a:path w="489071" h="489071">
                <a:moveTo>
                  <a:pt x="0" y="0"/>
                </a:moveTo>
                <a:lnTo>
                  <a:pt x="489072" y="0"/>
                </a:lnTo>
                <a:lnTo>
                  <a:pt x="489072" y="489071"/>
                </a:lnTo>
                <a:lnTo>
                  <a:pt x="0" y="48907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Freeform 22"/>
          <p:cNvSpPr/>
          <p:nvPr/>
        </p:nvSpPr>
        <p:spPr>
          <a:xfrm>
            <a:off x="1052512" y="8376909"/>
            <a:ext cx="489071" cy="489071"/>
          </a:xfrm>
          <a:custGeom>
            <a:avLst/>
            <a:gdLst/>
            <a:ahLst/>
            <a:cxnLst/>
            <a:rect l="l" t="t" r="r" b="b"/>
            <a:pathLst>
              <a:path w="489071" h="489071">
                <a:moveTo>
                  <a:pt x="0" y="0"/>
                </a:moveTo>
                <a:lnTo>
                  <a:pt x="489072" y="0"/>
                </a:lnTo>
                <a:lnTo>
                  <a:pt x="489072" y="489072"/>
                </a:lnTo>
                <a:lnTo>
                  <a:pt x="0" y="48907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33665" y="5442213"/>
            <a:ext cx="3625123" cy="3137101"/>
          </a:xfrm>
          <a:prstGeom prst="rect">
            <a:avLst/>
          </a:prstGeom>
        </p:spPr>
        <p:txBody>
          <a:bodyPr lIns="0" tIns="0" rIns="0" bIns="0" rtlCol="0" anchor="t">
            <a:spAutoFit/>
          </a:bodyPr>
          <a:lstStyle/>
          <a:p>
            <a:pPr marL="0" lvl="0" indent="0" algn="l">
              <a:lnSpc>
                <a:spcPts val="4214"/>
              </a:lnSpc>
            </a:pPr>
            <a:r>
              <a:rPr lang="en-US" sz="1685" spc="-107">
                <a:solidFill>
                  <a:srgbClr val="3A58E4"/>
                </a:solidFill>
                <a:latin typeface="Poppins"/>
                <a:ea typeface="Poppins"/>
                <a:cs typeface="Poppins"/>
                <a:sym typeface="Poppins"/>
              </a:rPr>
              <a:t>Claim_Amount vs Approved_Amount</a:t>
            </a:r>
          </a:p>
          <a:p>
            <a:pPr marL="0" lvl="0" indent="0" algn="l">
              <a:lnSpc>
                <a:spcPts val="4214"/>
              </a:lnSpc>
            </a:pPr>
            <a:r>
              <a:rPr lang="en-US" sz="1685" spc="-107">
                <a:solidFill>
                  <a:srgbClr val="3A58E4"/>
                </a:solidFill>
                <a:latin typeface="Poppins"/>
                <a:ea typeface="Poppins"/>
                <a:cs typeface="Poppins"/>
                <a:sym typeface="Poppins"/>
              </a:rPr>
              <a:t>Provider_ID Analysis</a:t>
            </a:r>
          </a:p>
          <a:p>
            <a:pPr marL="0" lvl="0" indent="0" algn="l">
              <a:lnSpc>
                <a:spcPts val="4214"/>
              </a:lnSpc>
            </a:pPr>
            <a:r>
              <a:rPr lang="en-US" sz="1685" spc="-107">
                <a:solidFill>
                  <a:srgbClr val="3A58E4"/>
                </a:solidFill>
                <a:latin typeface="Poppins"/>
                <a:ea typeface="Poppins"/>
                <a:cs typeface="Poppins"/>
                <a:sym typeface="Poppins"/>
              </a:rPr>
              <a:t>Number_of_Claims_Per_Provider</a:t>
            </a:r>
          </a:p>
          <a:p>
            <a:pPr marL="0" lvl="0" indent="0" algn="l">
              <a:lnSpc>
                <a:spcPts val="4214"/>
              </a:lnSpc>
            </a:pPr>
            <a:r>
              <a:rPr lang="en-US" sz="1685" spc="-107">
                <a:solidFill>
                  <a:srgbClr val="3A58E4"/>
                </a:solidFill>
                <a:latin typeface="Poppins"/>
                <a:ea typeface="Poppins"/>
                <a:cs typeface="Poppins"/>
                <a:sym typeface="Poppins"/>
              </a:rPr>
              <a:t>Diagnosis_Code Encoding</a:t>
            </a:r>
          </a:p>
          <a:p>
            <a:pPr marL="0" lvl="0" indent="0" algn="l">
              <a:lnSpc>
                <a:spcPts val="4214"/>
              </a:lnSpc>
            </a:pPr>
            <a:r>
              <a:rPr lang="en-US" sz="1685" spc="-107">
                <a:solidFill>
                  <a:srgbClr val="3A58E4"/>
                </a:solidFill>
                <a:latin typeface="Poppins"/>
                <a:ea typeface="Poppins"/>
                <a:cs typeface="Poppins"/>
                <a:sym typeface="Poppins"/>
              </a:rPr>
              <a:t>Procedure_Code Encoding</a:t>
            </a:r>
          </a:p>
        </p:txBody>
      </p:sp>
      <p:sp>
        <p:nvSpPr>
          <p:cNvPr id="3" name="AutoShape 3"/>
          <p:cNvSpPr/>
          <p:nvPr/>
        </p:nvSpPr>
        <p:spPr>
          <a:xfrm>
            <a:off x="4188847" y="5233301"/>
            <a:ext cx="3866216" cy="0"/>
          </a:xfrm>
          <a:prstGeom prst="line">
            <a:avLst/>
          </a:prstGeom>
          <a:ln w="9525" cap="rnd">
            <a:solidFill>
              <a:srgbClr val="3A58E4"/>
            </a:solidFill>
            <a:prstDash val="solid"/>
            <a:headEnd type="none" w="sm" len="sm"/>
            <a:tailEnd type="none" w="sm" len="sm"/>
          </a:ln>
        </p:spPr>
      </p:sp>
      <p:sp>
        <p:nvSpPr>
          <p:cNvPr id="4" name="AutoShape 4"/>
          <p:cNvSpPr/>
          <p:nvPr/>
        </p:nvSpPr>
        <p:spPr>
          <a:xfrm>
            <a:off x="4188847" y="6026742"/>
            <a:ext cx="3866216" cy="0"/>
          </a:xfrm>
          <a:prstGeom prst="line">
            <a:avLst/>
          </a:prstGeom>
          <a:ln w="9525" cap="rnd">
            <a:solidFill>
              <a:srgbClr val="3A58E4"/>
            </a:solidFill>
            <a:prstDash val="solid"/>
            <a:headEnd type="none" w="sm" len="sm"/>
            <a:tailEnd type="none" w="sm" len="sm"/>
          </a:ln>
        </p:spPr>
      </p:sp>
      <p:sp>
        <p:nvSpPr>
          <p:cNvPr id="5" name="AutoShape 5"/>
          <p:cNvSpPr/>
          <p:nvPr/>
        </p:nvSpPr>
        <p:spPr>
          <a:xfrm>
            <a:off x="3875499" y="6820183"/>
            <a:ext cx="4179564" cy="0"/>
          </a:xfrm>
          <a:prstGeom prst="line">
            <a:avLst/>
          </a:prstGeom>
          <a:ln w="9525" cap="rnd">
            <a:solidFill>
              <a:srgbClr val="3A58E4"/>
            </a:solidFill>
            <a:prstDash val="solid"/>
            <a:headEnd type="none" w="sm" len="sm"/>
            <a:tailEnd type="none" w="sm" len="sm"/>
          </a:ln>
        </p:spPr>
      </p:sp>
      <p:sp>
        <p:nvSpPr>
          <p:cNvPr id="6" name="AutoShape 6"/>
          <p:cNvSpPr/>
          <p:nvPr/>
        </p:nvSpPr>
        <p:spPr>
          <a:xfrm>
            <a:off x="4355079" y="7611677"/>
            <a:ext cx="3699984" cy="0"/>
          </a:xfrm>
          <a:prstGeom prst="line">
            <a:avLst/>
          </a:prstGeom>
          <a:ln w="9525" cap="rnd">
            <a:solidFill>
              <a:srgbClr val="3A58E4"/>
            </a:solidFill>
            <a:prstDash val="solid"/>
            <a:headEnd type="none" w="sm" len="sm"/>
            <a:tailEnd type="none" w="sm" len="sm"/>
          </a:ln>
        </p:spPr>
      </p:sp>
      <p:sp>
        <p:nvSpPr>
          <p:cNvPr id="7" name="AutoShape 7"/>
          <p:cNvSpPr/>
          <p:nvPr/>
        </p:nvSpPr>
        <p:spPr>
          <a:xfrm>
            <a:off x="4883376" y="8403541"/>
            <a:ext cx="3171687" cy="0"/>
          </a:xfrm>
          <a:prstGeom prst="line">
            <a:avLst/>
          </a:prstGeom>
          <a:ln w="9525" cap="rnd">
            <a:solidFill>
              <a:srgbClr val="3A58E4"/>
            </a:solidFill>
            <a:prstDash val="solid"/>
            <a:headEnd type="none" w="sm" len="sm"/>
            <a:tailEnd type="none" w="sm" len="sm"/>
          </a:ln>
        </p:spPr>
      </p:sp>
      <p:sp>
        <p:nvSpPr>
          <p:cNvPr id="8" name="TextBox 8"/>
          <p:cNvSpPr txBox="1"/>
          <p:nvPr/>
        </p:nvSpPr>
        <p:spPr>
          <a:xfrm>
            <a:off x="8275007" y="5971758"/>
            <a:ext cx="504523" cy="2607556"/>
          </a:xfrm>
          <a:prstGeom prst="rect">
            <a:avLst/>
          </a:prstGeom>
        </p:spPr>
        <p:txBody>
          <a:bodyPr lIns="0" tIns="0" rIns="0" bIns="0" rtlCol="0" anchor="t">
            <a:spAutoFit/>
          </a:bodyPr>
          <a:lstStyle/>
          <a:p>
            <a:pPr marL="0" lvl="0" indent="0" algn="l">
              <a:lnSpc>
                <a:spcPts val="4214"/>
              </a:lnSpc>
            </a:pPr>
            <a:r>
              <a:rPr lang="en-US" sz="1685" spc="-107">
                <a:solidFill>
                  <a:srgbClr val="3A58E4"/>
                </a:solidFill>
                <a:latin typeface="Poppins"/>
                <a:ea typeface="Poppins"/>
                <a:cs typeface="Poppins"/>
                <a:sym typeface="Poppins"/>
              </a:rPr>
              <a:t>01</a:t>
            </a:r>
          </a:p>
          <a:p>
            <a:pPr marL="0" lvl="0" indent="0" algn="l">
              <a:lnSpc>
                <a:spcPts val="4214"/>
              </a:lnSpc>
            </a:pPr>
            <a:r>
              <a:rPr lang="en-US" sz="1685" spc="-107">
                <a:solidFill>
                  <a:srgbClr val="3A58E4"/>
                </a:solidFill>
                <a:latin typeface="Poppins"/>
                <a:ea typeface="Poppins"/>
                <a:cs typeface="Poppins"/>
                <a:sym typeface="Poppins"/>
              </a:rPr>
              <a:t>02</a:t>
            </a:r>
          </a:p>
          <a:p>
            <a:pPr marL="0" lvl="0" indent="0" algn="l">
              <a:lnSpc>
                <a:spcPts val="4214"/>
              </a:lnSpc>
            </a:pPr>
            <a:r>
              <a:rPr lang="en-US" sz="1685" spc="-107">
                <a:solidFill>
                  <a:srgbClr val="3A58E4"/>
                </a:solidFill>
                <a:latin typeface="Poppins"/>
                <a:ea typeface="Poppins"/>
                <a:cs typeface="Poppins"/>
                <a:sym typeface="Poppins"/>
              </a:rPr>
              <a:t>03</a:t>
            </a:r>
          </a:p>
          <a:p>
            <a:pPr marL="0" lvl="0" indent="0" algn="l">
              <a:lnSpc>
                <a:spcPts val="4214"/>
              </a:lnSpc>
            </a:pPr>
            <a:r>
              <a:rPr lang="en-US" sz="1685" spc="-107">
                <a:solidFill>
                  <a:srgbClr val="3A58E4"/>
                </a:solidFill>
                <a:latin typeface="Poppins"/>
                <a:ea typeface="Poppins"/>
                <a:cs typeface="Poppins"/>
                <a:sym typeface="Poppins"/>
              </a:rPr>
              <a:t>04</a:t>
            </a:r>
          </a:p>
          <a:p>
            <a:pPr marL="0" lvl="0" indent="0" algn="l">
              <a:lnSpc>
                <a:spcPts val="4214"/>
              </a:lnSpc>
            </a:pPr>
            <a:r>
              <a:rPr lang="en-US" sz="1685" spc="-107">
                <a:solidFill>
                  <a:srgbClr val="3A58E4"/>
                </a:solidFill>
                <a:latin typeface="Poppins"/>
                <a:ea typeface="Poppins"/>
                <a:cs typeface="Poppins"/>
                <a:sym typeface="Poppins"/>
              </a:rPr>
              <a:t>05</a:t>
            </a:r>
          </a:p>
        </p:txBody>
      </p:sp>
      <p:sp>
        <p:nvSpPr>
          <p:cNvPr id="9" name="TextBox 9"/>
          <p:cNvSpPr txBox="1"/>
          <p:nvPr/>
        </p:nvSpPr>
        <p:spPr>
          <a:xfrm>
            <a:off x="9452665" y="5971758"/>
            <a:ext cx="3625123" cy="2607556"/>
          </a:xfrm>
          <a:prstGeom prst="rect">
            <a:avLst/>
          </a:prstGeom>
        </p:spPr>
        <p:txBody>
          <a:bodyPr lIns="0" tIns="0" rIns="0" bIns="0" rtlCol="0" anchor="t">
            <a:spAutoFit/>
          </a:bodyPr>
          <a:lstStyle/>
          <a:p>
            <a:pPr marL="0" lvl="0" indent="0" algn="l">
              <a:lnSpc>
                <a:spcPts val="4214"/>
              </a:lnSpc>
            </a:pPr>
            <a:r>
              <a:rPr lang="en-US" sz="1685" spc="-107">
                <a:solidFill>
                  <a:srgbClr val="3A58E4"/>
                </a:solidFill>
                <a:latin typeface="Poppins"/>
                <a:ea typeface="Poppins"/>
                <a:cs typeface="Poppins"/>
                <a:sym typeface="Poppins"/>
              </a:rPr>
              <a:t>Temporal Feature Extraction</a:t>
            </a:r>
          </a:p>
          <a:p>
            <a:pPr marL="0" lvl="0" indent="0" algn="l">
              <a:lnSpc>
                <a:spcPts val="4214"/>
              </a:lnSpc>
            </a:pPr>
            <a:r>
              <a:rPr lang="en-US" sz="1685" spc="-107">
                <a:solidFill>
                  <a:srgbClr val="3A58E4"/>
                </a:solidFill>
                <a:latin typeface="Poppins"/>
                <a:ea typeface="Poppins"/>
                <a:cs typeface="Poppins"/>
                <a:sym typeface="Poppins"/>
              </a:rPr>
              <a:t>Days_Between_Service_and_Claim</a:t>
            </a:r>
          </a:p>
          <a:p>
            <a:pPr marL="0" lvl="0" indent="0" algn="l">
              <a:lnSpc>
                <a:spcPts val="4214"/>
              </a:lnSpc>
            </a:pPr>
            <a:r>
              <a:rPr lang="en-US" sz="1685" spc="-107">
                <a:solidFill>
                  <a:srgbClr val="3A58E4"/>
                </a:solidFill>
                <a:latin typeface="Poppins"/>
                <a:ea typeface="Poppins"/>
                <a:cs typeface="Poppins"/>
                <a:sym typeface="Poppins"/>
              </a:rPr>
              <a:t>Chronic_Condition_Flag</a:t>
            </a:r>
          </a:p>
          <a:p>
            <a:pPr marL="0" lvl="0" indent="0" algn="l">
              <a:lnSpc>
                <a:spcPts val="4214"/>
              </a:lnSpc>
            </a:pPr>
            <a:r>
              <a:rPr lang="en-US" sz="1685" spc="-107">
                <a:solidFill>
                  <a:srgbClr val="3A58E4"/>
                </a:solidFill>
                <a:latin typeface="Poppins"/>
                <a:ea typeface="Poppins"/>
                <a:cs typeface="Poppins"/>
                <a:sym typeface="Poppins"/>
              </a:rPr>
              <a:t>Claim Volume Patterns</a:t>
            </a:r>
          </a:p>
          <a:p>
            <a:pPr marL="0" lvl="0" indent="0" algn="l">
              <a:lnSpc>
                <a:spcPts val="4214"/>
              </a:lnSpc>
            </a:pPr>
            <a:r>
              <a:rPr lang="en-US" sz="1685" spc="-107">
                <a:solidFill>
                  <a:srgbClr val="3A58E4"/>
                </a:solidFill>
                <a:latin typeface="Poppins"/>
                <a:ea typeface="Poppins"/>
                <a:cs typeface="Poppins"/>
                <a:sym typeface="Poppins"/>
              </a:rPr>
              <a:t>Feature Correlations</a:t>
            </a:r>
          </a:p>
        </p:txBody>
      </p:sp>
      <p:sp>
        <p:nvSpPr>
          <p:cNvPr id="10" name="AutoShape 10"/>
          <p:cNvSpPr/>
          <p:nvPr/>
        </p:nvSpPr>
        <p:spPr>
          <a:xfrm flipV="1">
            <a:off x="12399512" y="5233301"/>
            <a:ext cx="4174552" cy="0"/>
          </a:xfrm>
          <a:prstGeom prst="line">
            <a:avLst/>
          </a:prstGeom>
          <a:ln w="9525" cap="rnd">
            <a:solidFill>
              <a:srgbClr val="3A58E4"/>
            </a:solidFill>
            <a:prstDash val="solid"/>
            <a:headEnd type="none" w="sm" len="sm"/>
            <a:tailEnd type="none" w="sm" len="sm"/>
          </a:ln>
        </p:spPr>
      </p:sp>
      <p:sp>
        <p:nvSpPr>
          <p:cNvPr id="11" name="AutoShape 11"/>
          <p:cNvSpPr/>
          <p:nvPr/>
        </p:nvSpPr>
        <p:spPr>
          <a:xfrm flipV="1">
            <a:off x="13077788" y="6026742"/>
            <a:ext cx="3496276" cy="0"/>
          </a:xfrm>
          <a:prstGeom prst="line">
            <a:avLst/>
          </a:prstGeom>
          <a:ln w="9525" cap="rnd">
            <a:solidFill>
              <a:srgbClr val="3A58E4"/>
            </a:solidFill>
            <a:prstDash val="solid"/>
            <a:headEnd type="none" w="sm" len="sm"/>
            <a:tailEnd type="none" w="sm" len="sm"/>
          </a:ln>
        </p:spPr>
      </p:sp>
      <p:sp>
        <p:nvSpPr>
          <p:cNvPr id="12" name="AutoShape 12"/>
          <p:cNvSpPr/>
          <p:nvPr/>
        </p:nvSpPr>
        <p:spPr>
          <a:xfrm flipV="1">
            <a:off x="12714894" y="6820183"/>
            <a:ext cx="3859170" cy="0"/>
          </a:xfrm>
          <a:prstGeom prst="line">
            <a:avLst/>
          </a:prstGeom>
          <a:ln w="9525" cap="rnd">
            <a:solidFill>
              <a:srgbClr val="3A58E4"/>
            </a:solidFill>
            <a:prstDash val="solid"/>
            <a:headEnd type="none" w="sm" len="sm"/>
            <a:tailEnd type="none" w="sm" len="sm"/>
          </a:ln>
        </p:spPr>
      </p:sp>
      <p:sp>
        <p:nvSpPr>
          <p:cNvPr id="13" name="AutoShape 13"/>
          <p:cNvSpPr/>
          <p:nvPr/>
        </p:nvSpPr>
        <p:spPr>
          <a:xfrm>
            <a:off x="11908397" y="7611677"/>
            <a:ext cx="4665667" cy="0"/>
          </a:xfrm>
          <a:prstGeom prst="line">
            <a:avLst/>
          </a:prstGeom>
          <a:ln w="9525" cap="rnd">
            <a:solidFill>
              <a:srgbClr val="3A58E4"/>
            </a:solidFill>
            <a:prstDash val="solid"/>
            <a:headEnd type="none" w="sm" len="sm"/>
            <a:tailEnd type="none" w="sm" len="sm"/>
          </a:ln>
        </p:spPr>
      </p:sp>
      <p:sp>
        <p:nvSpPr>
          <p:cNvPr id="14" name="AutoShape 14"/>
          <p:cNvSpPr/>
          <p:nvPr/>
        </p:nvSpPr>
        <p:spPr>
          <a:xfrm>
            <a:off x="13077788" y="8403541"/>
            <a:ext cx="3496276" cy="0"/>
          </a:xfrm>
          <a:prstGeom prst="line">
            <a:avLst/>
          </a:prstGeom>
          <a:ln w="9525" cap="rnd">
            <a:solidFill>
              <a:srgbClr val="3A58E4"/>
            </a:solidFill>
            <a:prstDash val="solid"/>
            <a:headEnd type="none" w="sm" len="sm"/>
            <a:tailEnd type="none" w="sm" len="sm"/>
          </a:ln>
        </p:spPr>
      </p:sp>
      <p:sp>
        <p:nvSpPr>
          <p:cNvPr id="15" name="TextBox 15"/>
          <p:cNvSpPr txBox="1"/>
          <p:nvPr/>
        </p:nvSpPr>
        <p:spPr>
          <a:xfrm>
            <a:off x="16794008" y="5971758"/>
            <a:ext cx="560327" cy="2607556"/>
          </a:xfrm>
          <a:prstGeom prst="rect">
            <a:avLst/>
          </a:prstGeom>
        </p:spPr>
        <p:txBody>
          <a:bodyPr lIns="0" tIns="0" rIns="0" bIns="0" rtlCol="0" anchor="t">
            <a:spAutoFit/>
          </a:bodyPr>
          <a:lstStyle/>
          <a:p>
            <a:pPr marL="0" lvl="0" indent="0" algn="l">
              <a:lnSpc>
                <a:spcPts val="4214"/>
              </a:lnSpc>
            </a:pPr>
            <a:r>
              <a:rPr lang="en-US" sz="1685" spc="-107">
                <a:solidFill>
                  <a:srgbClr val="3A58E4"/>
                </a:solidFill>
                <a:latin typeface="Poppins"/>
                <a:ea typeface="Poppins"/>
                <a:cs typeface="Poppins"/>
                <a:sym typeface="Poppins"/>
              </a:rPr>
              <a:t>06</a:t>
            </a:r>
          </a:p>
          <a:p>
            <a:pPr marL="0" lvl="0" indent="0" algn="l">
              <a:lnSpc>
                <a:spcPts val="4214"/>
              </a:lnSpc>
            </a:pPr>
            <a:r>
              <a:rPr lang="en-US" sz="1685" spc="-107">
                <a:solidFill>
                  <a:srgbClr val="3A58E4"/>
                </a:solidFill>
                <a:latin typeface="Poppins"/>
                <a:ea typeface="Poppins"/>
                <a:cs typeface="Poppins"/>
                <a:sym typeface="Poppins"/>
              </a:rPr>
              <a:t>07</a:t>
            </a:r>
          </a:p>
          <a:p>
            <a:pPr marL="0" lvl="0" indent="0" algn="l">
              <a:lnSpc>
                <a:spcPts val="4214"/>
              </a:lnSpc>
            </a:pPr>
            <a:r>
              <a:rPr lang="en-US" sz="1685" spc="-107">
                <a:solidFill>
                  <a:srgbClr val="3A58E4"/>
                </a:solidFill>
                <a:latin typeface="Poppins"/>
                <a:ea typeface="Poppins"/>
                <a:cs typeface="Poppins"/>
                <a:sym typeface="Poppins"/>
              </a:rPr>
              <a:t>08</a:t>
            </a:r>
          </a:p>
          <a:p>
            <a:pPr marL="0" lvl="0" indent="0" algn="l">
              <a:lnSpc>
                <a:spcPts val="4214"/>
              </a:lnSpc>
            </a:pPr>
            <a:r>
              <a:rPr lang="en-US" sz="1685" spc="-107">
                <a:solidFill>
                  <a:srgbClr val="3A58E4"/>
                </a:solidFill>
                <a:latin typeface="Poppins"/>
                <a:ea typeface="Poppins"/>
                <a:cs typeface="Poppins"/>
                <a:sym typeface="Poppins"/>
              </a:rPr>
              <a:t>09</a:t>
            </a:r>
          </a:p>
          <a:p>
            <a:pPr marL="0" lvl="0" indent="0" algn="l">
              <a:lnSpc>
                <a:spcPts val="4214"/>
              </a:lnSpc>
            </a:pPr>
            <a:r>
              <a:rPr lang="en-US" sz="1685" spc="-107">
                <a:solidFill>
                  <a:srgbClr val="3A58E4"/>
                </a:solidFill>
                <a:latin typeface="Poppins"/>
                <a:ea typeface="Poppins"/>
                <a:cs typeface="Poppins"/>
                <a:sym typeface="Poppins"/>
              </a:rPr>
              <a:t>10</a:t>
            </a:r>
          </a:p>
        </p:txBody>
      </p:sp>
      <p:grpSp>
        <p:nvGrpSpPr>
          <p:cNvPr id="16" name="Group 16"/>
          <p:cNvGrpSpPr/>
          <p:nvPr/>
        </p:nvGrpSpPr>
        <p:grpSpPr>
          <a:xfrm>
            <a:off x="4208579" y="3311917"/>
            <a:ext cx="9870843" cy="379246"/>
            <a:chOff x="0" y="0"/>
            <a:chExt cx="13161124" cy="505662"/>
          </a:xfrm>
        </p:grpSpPr>
        <p:sp>
          <p:nvSpPr>
            <p:cNvPr id="17" name="TextBox 17"/>
            <p:cNvSpPr txBox="1"/>
            <p:nvPr/>
          </p:nvSpPr>
          <p:spPr>
            <a:xfrm>
              <a:off x="0" y="137434"/>
              <a:ext cx="13021857" cy="368228"/>
            </a:xfrm>
            <a:prstGeom prst="rect">
              <a:avLst/>
            </a:prstGeom>
          </p:spPr>
          <p:txBody>
            <a:bodyPr lIns="0" tIns="0" rIns="0" bIns="0" rtlCol="0" anchor="t">
              <a:spAutoFit/>
            </a:bodyPr>
            <a:lstStyle/>
            <a:p>
              <a:pPr marL="0" lvl="0" indent="0" algn="l">
                <a:lnSpc>
                  <a:spcPts val="2227"/>
                </a:lnSpc>
              </a:pPr>
              <a:r>
                <a:rPr lang="en-US" sz="1591" spc="-39">
                  <a:gradFill>
                    <a:gsLst>
                      <a:gs pos="0">
                        <a:srgbClr val="3A58E4">
                          <a:alpha val="100000"/>
                        </a:srgbClr>
                      </a:gs>
                      <a:gs pos="100000">
                        <a:srgbClr val="293E9C">
                          <a:alpha val="100000"/>
                        </a:srgbClr>
                      </a:gs>
                    </a:gsLst>
                    <a:path path="circle">
                      <a:fillToRect r="100000" b="100000"/>
                    </a:path>
                    <a:tileRect l="-100000" t="-100000"/>
                  </a:gradFill>
                  <a:latin typeface="Poppins"/>
                  <a:ea typeface="Poppins"/>
                  <a:cs typeface="Poppins"/>
                  <a:sym typeface="Poppins"/>
                </a:rPr>
                <a:t>Critical data columns and their role in fraud detection analysis</a:t>
              </a:r>
            </a:p>
          </p:txBody>
        </p:sp>
        <p:sp>
          <p:nvSpPr>
            <p:cNvPr id="18" name="Freeform 18"/>
            <p:cNvSpPr/>
            <p:nvPr/>
          </p:nvSpPr>
          <p:spPr>
            <a:xfrm rot="-8687136">
              <a:off x="12844104"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19" name="AutoShape 19"/>
          <p:cNvSpPr/>
          <p:nvPr/>
        </p:nvSpPr>
        <p:spPr>
          <a:xfrm flipV="1">
            <a:off x="4208579" y="3853088"/>
            <a:ext cx="9870843" cy="0"/>
          </a:xfrm>
          <a:prstGeom prst="line">
            <a:avLst/>
          </a:prstGeom>
          <a:ln w="19050" cap="rnd">
            <a:solidFill>
              <a:srgbClr val="3A58E4"/>
            </a:solidFill>
            <a:prstDash val="solid"/>
            <a:headEnd type="none" w="sm" len="sm"/>
            <a:tailEnd type="none" w="sm" len="sm"/>
          </a:ln>
        </p:spPr>
      </p:sp>
      <p:sp>
        <p:nvSpPr>
          <p:cNvPr id="20" name="TextBox 20"/>
          <p:cNvSpPr txBox="1"/>
          <p:nvPr/>
        </p:nvSpPr>
        <p:spPr>
          <a:xfrm>
            <a:off x="3626085" y="1932461"/>
            <a:ext cx="11035829" cy="981861"/>
          </a:xfrm>
          <a:prstGeom prst="rect">
            <a:avLst/>
          </a:prstGeom>
        </p:spPr>
        <p:txBody>
          <a:bodyPr lIns="0" tIns="0" rIns="0" bIns="0" rtlCol="0" anchor="t">
            <a:spAutoFit/>
          </a:bodyPr>
          <a:lstStyle/>
          <a:p>
            <a:pPr marL="0" lvl="0" indent="0" algn="ctr">
              <a:lnSpc>
                <a:spcPts val="7377"/>
              </a:lnSpc>
            </a:pPr>
            <a:r>
              <a:rPr lang="en-US" sz="7528" spc="-481">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Key Data Features Analyzed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92056" y="1525863"/>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TextBox 5"/>
          <p:cNvSpPr txBox="1"/>
          <p:nvPr/>
        </p:nvSpPr>
        <p:spPr>
          <a:xfrm>
            <a:off x="8492056" y="4526454"/>
            <a:ext cx="7106119" cy="333441"/>
          </a:xfrm>
          <a:prstGeom prst="rect">
            <a:avLst/>
          </a:prstGeom>
        </p:spPr>
        <p:txBody>
          <a:bodyPr lIns="0" tIns="0" rIns="0" bIns="0" rtlCol="0" anchor="t">
            <a:spAutoFit/>
          </a:bodyPr>
          <a:lstStyle/>
          <a:p>
            <a:pPr marL="0" lvl="0" indent="0" algn="l">
              <a:lnSpc>
                <a:spcPts val="2621"/>
              </a:lnSpc>
            </a:pPr>
            <a:r>
              <a:rPr lang="en-US" sz="1872" b="1" spc="-46">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TOOLS, ENVIRONMENT, AND FEATURE ENGINEERING APPROACH</a:t>
            </a:r>
          </a:p>
        </p:txBody>
      </p:sp>
      <p:sp>
        <p:nvSpPr>
          <p:cNvPr id="6" name="Freeform 6"/>
          <p:cNvSpPr/>
          <p:nvPr/>
        </p:nvSpPr>
        <p:spPr>
          <a:xfrm rot="-8687136">
            <a:off x="15580115" y="4542838"/>
            <a:ext cx="189150" cy="228643"/>
          </a:xfrm>
          <a:custGeom>
            <a:avLst/>
            <a:gdLst/>
            <a:ahLst/>
            <a:cxnLst/>
            <a:rect l="l" t="t" r="r" b="b"/>
            <a:pathLst>
              <a:path w="189150" h="228643">
                <a:moveTo>
                  <a:pt x="0" y="0"/>
                </a:moveTo>
                <a:lnTo>
                  <a:pt x="189150" y="0"/>
                </a:lnTo>
                <a:lnTo>
                  <a:pt x="189150" y="228644"/>
                </a:lnTo>
                <a:lnTo>
                  <a:pt x="0" y="22864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7" name="Group 7"/>
          <p:cNvGrpSpPr/>
          <p:nvPr/>
        </p:nvGrpSpPr>
        <p:grpSpPr>
          <a:xfrm>
            <a:off x="0" y="0"/>
            <a:ext cx="6352295" cy="10287000"/>
            <a:chOff x="0" y="0"/>
            <a:chExt cx="984137" cy="1593725"/>
          </a:xfrm>
        </p:grpSpPr>
        <p:sp>
          <p:nvSpPr>
            <p:cNvPr id="8" name="Freeform 8"/>
            <p:cNvSpPr/>
            <p:nvPr/>
          </p:nvSpPr>
          <p:spPr>
            <a:xfrm>
              <a:off x="0" y="0"/>
              <a:ext cx="984137" cy="1593725"/>
            </a:xfrm>
            <a:custGeom>
              <a:avLst/>
              <a:gdLst/>
              <a:ahLst/>
              <a:cxnLst/>
              <a:rect l="l" t="t" r="r" b="b"/>
              <a:pathLst>
                <a:path w="984137" h="1593725">
                  <a:moveTo>
                    <a:pt x="0" y="0"/>
                  </a:moveTo>
                  <a:lnTo>
                    <a:pt x="984137" y="0"/>
                  </a:lnTo>
                  <a:lnTo>
                    <a:pt x="984137" y="1593725"/>
                  </a:lnTo>
                  <a:lnTo>
                    <a:pt x="0" y="1593725"/>
                  </a:lnTo>
                  <a:close/>
                </a:path>
              </a:pathLst>
            </a:custGeom>
            <a:blipFill>
              <a:blip r:embed="rId4"/>
              <a:stretch>
                <a:fillRect l="-4554" r="-4554"/>
              </a:stretch>
            </a:blipFill>
          </p:spPr>
        </p:sp>
      </p:grpSp>
      <p:grpSp>
        <p:nvGrpSpPr>
          <p:cNvPr id="9" name="Group 9"/>
          <p:cNvGrpSpPr/>
          <p:nvPr/>
        </p:nvGrpSpPr>
        <p:grpSpPr>
          <a:xfrm>
            <a:off x="16438046" y="209937"/>
            <a:ext cx="1849954" cy="1638229"/>
            <a:chOff x="0" y="0"/>
            <a:chExt cx="2466605" cy="2184305"/>
          </a:xfrm>
        </p:grpSpPr>
        <p:grpSp>
          <p:nvGrpSpPr>
            <p:cNvPr id="10" name="Group 10"/>
            <p:cNvGrpSpPr/>
            <p:nvPr/>
          </p:nvGrpSpPr>
          <p:grpSpPr>
            <a:xfrm>
              <a:off x="0" y="0"/>
              <a:ext cx="2466605" cy="2184305"/>
              <a:chOff x="0" y="0"/>
              <a:chExt cx="787566" cy="697430"/>
            </a:xfrm>
          </p:grpSpPr>
          <p:sp>
            <p:nvSpPr>
              <p:cNvPr id="11" name="Freeform 11"/>
              <p:cNvSpPr/>
              <p:nvPr/>
            </p:nvSpPr>
            <p:spPr>
              <a:xfrm>
                <a:off x="0" y="0"/>
                <a:ext cx="787566" cy="697430"/>
              </a:xfrm>
              <a:custGeom>
                <a:avLst/>
                <a:gdLst/>
                <a:ahLst/>
                <a:cxnLst/>
                <a:rect l="l" t="t" r="r" b="b"/>
                <a:pathLst>
                  <a:path w="787566" h="697430">
                    <a:moveTo>
                      <a:pt x="0" y="0"/>
                    </a:moveTo>
                    <a:lnTo>
                      <a:pt x="787566" y="0"/>
                    </a:lnTo>
                    <a:lnTo>
                      <a:pt x="787566" y="697430"/>
                    </a:lnTo>
                    <a:lnTo>
                      <a:pt x="0" y="69743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3553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319164" y="674999"/>
              <a:ext cx="1828278" cy="939082"/>
            </a:xfrm>
            <a:prstGeom prst="rect">
              <a:avLst/>
            </a:prstGeom>
          </p:spPr>
          <p:txBody>
            <a:bodyPr lIns="0" tIns="0" rIns="0" bIns="0" rtlCol="0" anchor="t">
              <a:spAutoFit/>
            </a:bodyPr>
            <a:lstStyle/>
            <a:p>
              <a:pPr marL="0" lvl="0" indent="0" algn="ctr">
                <a:lnSpc>
                  <a:spcPts val="5076"/>
                </a:lnSpc>
              </a:pPr>
              <a:r>
                <a:rPr lang="en-US" sz="5179" spc="-331">
                  <a:solidFill>
                    <a:srgbClr val="FFFFFF"/>
                  </a:solidFill>
                  <a:latin typeface="Bricolage Grotesque"/>
                  <a:ea typeface="Bricolage Grotesque"/>
                  <a:cs typeface="Bricolage Grotesque"/>
                  <a:sym typeface="Bricolage Grotesque"/>
                </a:rPr>
                <a:t>05</a:t>
              </a:r>
            </a:p>
          </p:txBody>
        </p:sp>
      </p:grpSp>
      <p:sp>
        <p:nvSpPr>
          <p:cNvPr id="14" name="AutoShape 14"/>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5177017" y="5870652"/>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5"/>
            <a:stretch>
              <a:fillRect/>
            </a:stretch>
          </a:blipFill>
        </p:spPr>
      </p:sp>
      <p:grpSp>
        <p:nvGrpSpPr>
          <p:cNvPr id="16" name="Group 16"/>
          <p:cNvGrpSpPr/>
          <p:nvPr/>
        </p:nvGrpSpPr>
        <p:grpSpPr>
          <a:xfrm>
            <a:off x="5262566" y="3959058"/>
            <a:ext cx="2152019" cy="2149322"/>
            <a:chOff x="0" y="0"/>
            <a:chExt cx="567580" cy="566868"/>
          </a:xfrm>
        </p:grpSpPr>
        <p:sp>
          <p:nvSpPr>
            <p:cNvPr id="17" name="Freeform 17"/>
            <p:cNvSpPr/>
            <p:nvPr/>
          </p:nvSpPr>
          <p:spPr>
            <a:xfrm>
              <a:off x="0" y="0"/>
              <a:ext cx="567580" cy="566868"/>
            </a:xfrm>
            <a:custGeom>
              <a:avLst/>
              <a:gdLst/>
              <a:ahLst/>
              <a:cxnLst/>
              <a:rect l="l" t="t" r="r" b="b"/>
              <a:pathLst>
                <a:path w="567580" h="566868">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18" name="TextBox 18"/>
            <p:cNvSpPr txBox="1"/>
            <p:nvPr/>
          </p:nvSpPr>
          <p:spPr>
            <a:xfrm>
              <a:off x="0" y="28575"/>
              <a:ext cx="567580" cy="538293"/>
            </a:xfrm>
            <a:prstGeom prst="rect">
              <a:avLst/>
            </a:prstGeom>
          </p:spPr>
          <p:txBody>
            <a:bodyPr lIns="48445" tIns="48445" rIns="48445" bIns="48445" rtlCol="0" anchor="ctr"/>
            <a:lstStyle/>
            <a:p>
              <a:pPr marL="0" lvl="0" indent="0" algn="ctr">
                <a:lnSpc>
                  <a:spcPts val="2460"/>
                </a:lnSpc>
              </a:pPr>
              <a:endParaRPr/>
            </a:p>
          </p:txBody>
        </p:sp>
      </p:grpSp>
      <p:sp>
        <p:nvSpPr>
          <p:cNvPr id="19" name="TextBox 19"/>
          <p:cNvSpPr txBox="1"/>
          <p:nvPr/>
        </p:nvSpPr>
        <p:spPr>
          <a:xfrm>
            <a:off x="5602320" y="4416246"/>
            <a:ext cx="1499950" cy="393957"/>
          </a:xfrm>
          <a:prstGeom prst="rect">
            <a:avLst/>
          </a:prstGeom>
        </p:spPr>
        <p:txBody>
          <a:bodyPr lIns="0" tIns="0" rIns="0" bIns="0" rtlCol="0" anchor="t">
            <a:spAutoFit/>
          </a:bodyPr>
          <a:lstStyle/>
          <a:p>
            <a:pPr marL="0" lvl="0" indent="0" algn="ctr">
              <a:lnSpc>
                <a:spcPts val="2904"/>
              </a:lnSpc>
            </a:pPr>
            <a:r>
              <a:rPr lang="en-US" sz="2933" b="1" spc="-88">
                <a:solidFill>
                  <a:srgbClr val="FFFFFF"/>
                </a:solidFill>
                <a:latin typeface="Bricolage Grotesque Bold"/>
                <a:ea typeface="Bricolage Grotesque Bold"/>
                <a:cs typeface="Bricolage Grotesque Bold"/>
                <a:sym typeface="Bricolage Grotesque Bold"/>
              </a:rPr>
              <a:t>Tech</a:t>
            </a:r>
          </a:p>
        </p:txBody>
      </p:sp>
      <p:sp>
        <p:nvSpPr>
          <p:cNvPr id="20" name="TextBox 20"/>
          <p:cNvSpPr txBox="1"/>
          <p:nvPr/>
        </p:nvSpPr>
        <p:spPr>
          <a:xfrm>
            <a:off x="5746312" y="5175917"/>
            <a:ext cx="1211966" cy="515374"/>
          </a:xfrm>
          <a:prstGeom prst="rect">
            <a:avLst/>
          </a:prstGeom>
        </p:spPr>
        <p:txBody>
          <a:bodyPr lIns="0" tIns="0" rIns="0" bIns="0" rtlCol="0" anchor="t">
            <a:spAutoFit/>
          </a:bodyPr>
          <a:lstStyle/>
          <a:p>
            <a:pPr marL="0" lvl="0" indent="0" algn="ctr">
              <a:lnSpc>
                <a:spcPts val="2043"/>
              </a:lnSpc>
            </a:pPr>
            <a:r>
              <a:rPr lang="en-US" sz="1459" spc="-36">
                <a:solidFill>
                  <a:srgbClr val="FFFFFF"/>
                </a:solidFill>
                <a:latin typeface="Poppins"/>
                <a:ea typeface="Poppins"/>
                <a:cs typeface="Poppins"/>
                <a:sym typeface="Poppins"/>
              </a:rPr>
              <a:t>STACK OVERVIEW</a:t>
            </a:r>
          </a:p>
        </p:txBody>
      </p:sp>
      <p:sp>
        <p:nvSpPr>
          <p:cNvPr id="21" name="TextBox 21"/>
          <p:cNvSpPr txBox="1"/>
          <p:nvPr/>
        </p:nvSpPr>
        <p:spPr>
          <a:xfrm>
            <a:off x="8720122" y="2088484"/>
            <a:ext cx="5780387" cy="1807435"/>
          </a:xfrm>
          <a:prstGeom prst="rect">
            <a:avLst/>
          </a:prstGeom>
        </p:spPr>
        <p:txBody>
          <a:bodyPr lIns="0" tIns="0" rIns="0" bIns="0" rtlCol="0" anchor="t">
            <a:spAutoFit/>
          </a:bodyPr>
          <a:lstStyle/>
          <a:p>
            <a:pPr marL="0" lvl="0" indent="0" algn="l">
              <a:lnSpc>
                <a:spcPts val="6920"/>
              </a:lnSpc>
            </a:pPr>
            <a:r>
              <a:rPr lang="en-US" sz="7062" spc="-451">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Technical Implementation</a:t>
            </a:r>
          </a:p>
        </p:txBody>
      </p:sp>
      <p:sp>
        <p:nvSpPr>
          <p:cNvPr id="22" name="TextBox 22"/>
          <p:cNvSpPr txBox="1"/>
          <p:nvPr/>
        </p:nvSpPr>
        <p:spPr>
          <a:xfrm>
            <a:off x="8492056" y="5439405"/>
            <a:ext cx="7325824" cy="1535805"/>
          </a:xfrm>
          <a:prstGeom prst="rect">
            <a:avLst/>
          </a:prstGeom>
        </p:spPr>
        <p:txBody>
          <a:bodyPr lIns="0" tIns="0" rIns="0" bIns="0" rtlCol="0" anchor="t">
            <a:spAutoFit/>
          </a:bodyPr>
          <a:lstStyle/>
          <a:p>
            <a:pPr marL="0" lvl="0" indent="0" algn="just">
              <a:lnSpc>
                <a:spcPts val="3024"/>
              </a:lnSpc>
            </a:pPr>
            <a:r>
              <a:rPr lang="en-US" sz="2160" spc="-6">
                <a:solidFill>
                  <a:srgbClr val="3A58E4"/>
                </a:solidFill>
                <a:latin typeface="Poppins"/>
                <a:ea typeface="Poppins"/>
                <a:cs typeface="Poppins"/>
                <a:sym typeface="Poppins"/>
              </a:rPr>
              <a:t>Built using Python 3 with pandas, numpy, matplotlib, and seaborn for data analysis and visualization. SQL powers KPI calculations while Power BI delivers interactive dashboards.</a:t>
            </a:r>
          </a:p>
        </p:txBody>
      </p:sp>
      <p:sp>
        <p:nvSpPr>
          <p:cNvPr id="23" name="TextBox 23"/>
          <p:cNvSpPr txBox="1"/>
          <p:nvPr/>
        </p:nvSpPr>
        <p:spPr>
          <a:xfrm>
            <a:off x="8274055" y="7554720"/>
            <a:ext cx="5481943" cy="1535805"/>
          </a:xfrm>
          <a:prstGeom prst="rect">
            <a:avLst/>
          </a:prstGeom>
        </p:spPr>
        <p:txBody>
          <a:bodyPr lIns="0" tIns="0" rIns="0" bIns="0" rtlCol="0" anchor="t">
            <a:spAutoFit/>
          </a:bodyPr>
          <a:lstStyle/>
          <a:p>
            <a:pPr marL="0" lvl="0" indent="0" algn="just">
              <a:lnSpc>
                <a:spcPts val="3024"/>
              </a:lnSpc>
            </a:pPr>
            <a:r>
              <a:rPr lang="en-US" sz="2160" spc="-6">
                <a:solidFill>
                  <a:srgbClr val="3A58E4"/>
                </a:solidFill>
                <a:latin typeface="Poppins"/>
                <a:ea typeface="Poppins"/>
                <a:cs typeface="Poppins"/>
                <a:sym typeface="Poppins"/>
              </a:rPr>
              <a:t>JupyterLab Development Environment</a:t>
            </a:r>
          </a:p>
          <a:p>
            <a:pPr marL="0" lvl="0" indent="0" algn="just">
              <a:lnSpc>
                <a:spcPts val="3024"/>
              </a:lnSpc>
            </a:pPr>
            <a:r>
              <a:rPr lang="en-US" sz="2160" spc="-6">
                <a:solidFill>
                  <a:srgbClr val="3A58E4"/>
                </a:solidFill>
                <a:latin typeface="Poppins"/>
                <a:ea typeface="Poppins"/>
                <a:cs typeface="Poppins"/>
                <a:sym typeface="Poppins"/>
              </a:rPr>
              <a:t>Categorical Feature Encoding</a:t>
            </a:r>
          </a:p>
          <a:p>
            <a:pPr marL="0" lvl="0" indent="0" algn="just">
              <a:lnSpc>
                <a:spcPts val="3024"/>
              </a:lnSpc>
            </a:pPr>
            <a:r>
              <a:rPr lang="en-US" sz="2160" spc="-6">
                <a:solidFill>
                  <a:srgbClr val="3A58E4"/>
                </a:solidFill>
                <a:latin typeface="Poppins"/>
                <a:ea typeface="Poppins"/>
                <a:cs typeface="Poppins"/>
                <a:sym typeface="Poppins"/>
              </a:rPr>
              <a:t>Temporal Feature Extraction</a:t>
            </a:r>
          </a:p>
          <a:p>
            <a:pPr marL="0" lvl="0" indent="0" algn="just">
              <a:lnSpc>
                <a:spcPts val="3024"/>
              </a:lnSpc>
            </a:pPr>
            <a:r>
              <a:rPr lang="en-US" sz="2160" spc="-6">
                <a:solidFill>
                  <a:srgbClr val="3A58E4"/>
                </a:solidFill>
                <a:latin typeface="Poppins"/>
                <a:ea typeface="Poppins"/>
                <a:cs typeface="Poppins"/>
                <a:sym typeface="Poppins"/>
              </a:rPr>
              <a:t>Date Difference &amp; Chronic Flag Handling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828142" y="1358088"/>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7828142" y="4449725"/>
            <a:ext cx="9021242" cy="379246"/>
            <a:chOff x="0" y="0"/>
            <a:chExt cx="12028323" cy="505662"/>
          </a:xfrm>
        </p:grpSpPr>
        <p:sp>
          <p:nvSpPr>
            <p:cNvPr id="6" name="TextBox 6"/>
            <p:cNvSpPr txBox="1"/>
            <p:nvPr/>
          </p:nvSpPr>
          <p:spPr>
            <a:xfrm>
              <a:off x="0" y="-49061"/>
              <a:ext cx="11773903" cy="554723"/>
            </a:xfrm>
            <a:prstGeom prst="rect">
              <a:avLst/>
            </a:prstGeom>
          </p:spPr>
          <p:txBody>
            <a:bodyPr lIns="0" tIns="0" rIns="0" bIns="0" rtlCol="0" anchor="t">
              <a:spAutoFit/>
            </a:bodyPr>
            <a:lstStyle/>
            <a:p>
              <a:pPr marL="0" lvl="0" indent="0" algn="l">
                <a:lnSpc>
                  <a:spcPts val="3318"/>
                </a:lnSpc>
              </a:pPr>
              <a:r>
                <a:rPr lang="en-US" sz="2370" b="1" spc="-59">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OVERALL PERFORMANCE METRIC AND INTERPRETATION</a:t>
              </a:r>
            </a:p>
          </p:txBody>
        </p:sp>
        <p:sp>
          <p:nvSpPr>
            <p:cNvPr id="7" name="Freeform 7"/>
            <p:cNvSpPr/>
            <p:nvPr/>
          </p:nvSpPr>
          <p:spPr>
            <a:xfrm rot="-8687136">
              <a:off x="11711303"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8" name="Group 8"/>
          <p:cNvGrpSpPr/>
          <p:nvPr/>
        </p:nvGrpSpPr>
        <p:grpSpPr>
          <a:xfrm>
            <a:off x="16438046" y="0"/>
            <a:ext cx="1849954" cy="1848166"/>
            <a:chOff x="0" y="0"/>
            <a:chExt cx="2466605" cy="2464222"/>
          </a:xfrm>
        </p:grpSpPr>
        <p:grpSp>
          <p:nvGrpSpPr>
            <p:cNvPr id="9" name="Group 9"/>
            <p:cNvGrpSpPr/>
            <p:nvPr/>
          </p:nvGrpSpPr>
          <p:grpSpPr>
            <a:xfrm>
              <a:off x="0" y="0"/>
              <a:ext cx="2466605" cy="2464222"/>
              <a:chOff x="0" y="0"/>
              <a:chExt cx="787566" cy="786805"/>
            </a:xfrm>
          </p:grpSpPr>
          <p:sp>
            <p:nvSpPr>
              <p:cNvPr id="10" name="Freeform 10"/>
              <p:cNvSpPr/>
              <p:nvPr/>
            </p:nvSpPr>
            <p:spPr>
              <a:xfrm>
                <a:off x="0" y="0"/>
                <a:ext cx="787566" cy="786805"/>
              </a:xfrm>
              <a:custGeom>
                <a:avLst/>
                <a:gdLst/>
                <a:ahLst/>
                <a:cxnLst/>
                <a:rect l="l" t="t" r="r" b="b"/>
                <a:pathLst>
                  <a:path w="787566" h="786805">
                    <a:moveTo>
                      <a:pt x="0" y="0"/>
                    </a:moveTo>
                    <a:lnTo>
                      <a:pt x="787566" y="0"/>
                    </a:lnTo>
                    <a:lnTo>
                      <a:pt x="787566" y="786805"/>
                    </a:lnTo>
                    <a:lnTo>
                      <a:pt x="0" y="786805"/>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1" name="TextBox 11"/>
              <p:cNvSpPr txBox="1"/>
              <p:nvPr/>
            </p:nvSpPr>
            <p:spPr>
              <a:xfrm>
                <a:off x="0" y="-38100"/>
                <a:ext cx="787566" cy="82490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2" name="TextBox 12"/>
            <p:cNvSpPr txBox="1"/>
            <p:nvPr/>
          </p:nvSpPr>
          <p:spPr>
            <a:xfrm>
              <a:off x="319164" y="694049"/>
              <a:ext cx="1828278" cy="1199949"/>
            </a:xfrm>
            <a:prstGeom prst="rect">
              <a:avLst/>
            </a:prstGeom>
          </p:spPr>
          <p:txBody>
            <a:bodyPr lIns="0" tIns="0" rIns="0" bIns="0" rtlCol="0" anchor="t">
              <a:spAutoFit/>
            </a:bodyPr>
            <a:lstStyle/>
            <a:p>
              <a:pPr marL="0" lvl="0" indent="0" algn="ctr">
                <a:lnSpc>
                  <a:spcPts val="6425"/>
                </a:lnSpc>
              </a:pPr>
              <a:r>
                <a:rPr lang="en-US" sz="6557" spc="-419">
                  <a:solidFill>
                    <a:srgbClr val="FFFFFF"/>
                  </a:solidFill>
                  <a:latin typeface="Bricolage Grotesque"/>
                  <a:ea typeface="Bricolage Grotesque"/>
                  <a:cs typeface="Bricolage Grotesque"/>
                  <a:sym typeface="Bricolage Grotesque"/>
                </a:rPr>
                <a:t>06</a:t>
              </a:r>
            </a:p>
          </p:txBody>
        </p:sp>
      </p:grpSp>
      <p:sp>
        <p:nvSpPr>
          <p:cNvPr id="13" name="AutoShape 13"/>
          <p:cNvSpPr/>
          <p:nvPr/>
        </p:nvSpPr>
        <p:spPr>
          <a:xfrm flipH="1">
            <a:off x="6542795" y="0"/>
            <a:ext cx="0" cy="10287000"/>
          </a:xfrm>
          <a:prstGeom prst="line">
            <a:avLst/>
          </a:prstGeom>
          <a:ln w="19050" cap="rnd">
            <a:solidFill>
              <a:srgbClr val="3A58E4"/>
            </a:solidFill>
            <a:prstDash val="solid"/>
            <a:headEnd type="none" w="sm" len="sm"/>
            <a:tailEnd type="none" w="sm" len="sm"/>
          </a:ln>
        </p:spPr>
      </p:sp>
      <p:sp>
        <p:nvSpPr>
          <p:cNvPr id="14" name="AutoShape 14"/>
          <p:cNvSpPr/>
          <p:nvPr/>
        </p:nvSpPr>
        <p:spPr>
          <a:xfrm>
            <a:off x="0" y="5320770"/>
            <a:ext cx="6542795" cy="0"/>
          </a:xfrm>
          <a:prstGeom prst="line">
            <a:avLst/>
          </a:prstGeom>
          <a:ln w="19050" cap="rnd">
            <a:solidFill>
              <a:srgbClr val="3A58E4"/>
            </a:solidFill>
            <a:prstDash val="solid"/>
            <a:headEnd type="none" w="sm" len="sm"/>
            <a:tailEnd type="none" w="sm" len="sm"/>
          </a:ln>
        </p:spPr>
      </p:sp>
      <p:grpSp>
        <p:nvGrpSpPr>
          <p:cNvPr id="15" name="Group 15"/>
          <p:cNvGrpSpPr/>
          <p:nvPr/>
        </p:nvGrpSpPr>
        <p:grpSpPr>
          <a:xfrm>
            <a:off x="197452" y="174137"/>
            <a:ext cx="6165930" cy="4969363"/>
            <a:chOff x="0" y="0"/>
            <a:chExt cx="955264" cy="769884"/>
          </a:xfrm>
        </p:grpSpPr>
        <p:sp>
          <p:nvSpPr>
            <p:cNvPr id="16" name="Freeform 16"/>
            <p:cNvSpPr/>
            <p:nvPr/>
          </p:nvSpPr>
          <p:spPr>
            <a:xfrm>
              <a:off x="0" y="0"/>
              <a:ext cx="955264" cy="769884"/>
            </a:xfrm>
            <a:custGeom>
              <a:avLst/>
              <a:gdLst/>
              <a:ahLst/>
              <a:cxnLst/>
              <a:rect l="l" t="t" r="r" b="b"/>
              <a:pathLst>
                <a:path w="955264" h="769884">
                  <a:moveTo>
                    <a:pt x="0" y="0"/>
                  </a:moveTo>
                  <a:lnTo>
                    <a:pt x="955264" y="0"/>
                  </a:lnTo>
                  <a:lnTo>
                    <a:pt x="955264" y="769884"/>
                  </a:lnTo>
                  <a:lnTo>
                    <a:pt x="0" y="769884"/>
                  </a:lnTo>
                  <a:close/>
                </a:path>
              </a:pathLst>
            </a:custGeom>
            <a:blipFill>
              <a:blip r:embed="rId4"/>
              <a:stretch>
                <a:fillRect t="-174" b="-174"/>
              </a:stretch>
            </a:blipFill>
          </p:spPr>
        </p:sp>
      </p:grpSp>
      <p:sp>
        <p:nvSpPr>
          <p:cNvPr id="17" name="TextBox 17"/>
          <p:cNvSpPr txBox="1"/>
          <p:nvPr/>
        </p:nvSpPr>
        <p:spPr>
          <a:xfrm>
            <a:off x="8056208" y="1228725"/>
            <a:ext cx="7107541" cy="2499419"/>
          </a:xfrm>
          <a:prstGeom prst="rect">
            <a:avLst/>
          </a:prstGeom>
        </p:spPr>
        <p:txBody>
          <a:bodyPr lIns="0" tIns="0" rIns="0" bIns="0" rtlCol="0" anchor="t">
            <a:spAutoFit/>
          </a:bodyPr>
          <a:lstStyle/>
          <a:p>
            <a:pPr marL="0" lvl="0" indent="0"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Model</a:t>
            </a:r>
          </a:p>
          <a:p>
            <a:pPr marL="0" lvl="0" indent="0" algn="l">
              <a:lnSpc>
                <a:spcPts val="9603"/>
              </a:lnSpc>
            </a:pPr>
            <a:r>
              <a:rPr lang="en-US" sz="9799" spc="-62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Accuracy</a:t>
            </a:r>
          </a:p>
        </p:txBody>
      </p:sp>
      <p:sp>
        <p:nvSpPr>
          <p:cNvPr id="18" name="TextBox 18"/>
          <p:cNvSpPr txBox="1"/>
          <p:nvPr/>
        </p:nvSpPr>
        <p:spPr>
          <a:xfrm>
            <a:off x="7828142" y="5541027"/>
            <a:ext cx="9021242" cy="3525015"/>
          </a:xfrm>
          <a:prstGeom prst="rect">
            <a:avLst/>
          </a:prstGeom>
        </p:spPr>
        <p:txBody>
          <a:bodyPr lIns="0" tIns="0" rIns="0" bIns="0" rtlCol="0" anchor="t">
            <a:spAutoFit/>
          </a:bodyPr>
          <a:lstStyle/>
          <a:p>
            <a:pPr marL="0" lvl="0" indent="0" algn="just">
              <a:lnSpc>
                <a:spcPts val="3107"/>
              </a:lnSpc>
            </a:pPr>
            <a:r>
              <a:rPr lang="en-US" sz="2219" spc="-6">
                <a:solidFill>
                  <a:srgbClr val="3A58E4"/>
                </a:solidFill>
                <a:latin typeface="Poppins"/>
                <a:ea typeface="Poppins"/>
                <a:cs typeface="Poppins"/>
                <a:sym typeface="Poppins"/>
              </a:rPr>
              <a:t>The model demonstrates strong overall accuracy in classifying claims as fraudulent or legitimate. However, accuracy alone can be misleading in fraud detection scenarios due to significant class imbalance—with fraud cases representing less than 5% of total claims. A model predicting all claims as "Normal" would still achieve high accuracy while failing to detect any fraud. Therefore, this metric should be evaluated alongside precision, recall, and the confusion matrix to understand true detection capability.</a:t>
            </a:r>
          </a:p>
        </p:txBody>
      </p:sp>
      <p:sp>
        <p:nvSpPr>
          <p:cNvPr id="19" name="TextBox 19"/>
          <p:cNvSpPr txBox="1"/>
          <p:nvPr/>
        </p:nvSpPr>
        <p:spPr>
          <a:xfrm>
            <a:off x="1736067" y="8274702"/>
            <a:ext cx="3088700" cy="791340"/>
          </a:xfrm>
          <a:prstGeom prst="rect">
            <a:avLst/>
          </a:prstGeom>
        </p:spPr>
        <p:txBody>
          <a:bodyPr lIns="0" tIns="0" rIns="0" bIns="0" rtlCol="0" anchor="t">
            <a:spAutoFit/>
          </a:bodyPr>
          <a:lstStyle/>
          <a:p>
            <a:pPr marL="0" lvl="0" indent="0" algn="ctr">
              <a:lnSpc>
                <a:spcPts val="3107"/>
              </a:lnSpc>
            </a:pPr>
            <a:r>
              <a:rPr lang="en-US" sz="2219" spc="-6">
                <a:solidFill>
                  <a:srgbClr val="3A58E4"/>
                </a:solidFill>
                <a:latin typeface="Poppins"/>
                <a:ea typeface="Poppins"/>
                <a:cs typeface="Poppins"/>
                <a:sym typeface="Poppins"/>
              </a:rPr>
              <a:t>Claims correctly classified</a:t>
            </a:r>
          </a:p>
        </p:txBody>
      </p:sp>
      <p:sp>
        <p:nvSpPr>
          <p:cNvPr id="20" name="TextBox 20"/>
          <p:cNvSpPr txBox="1"/>
          <p:nvPr/>
        </p:nvSpPr>
        <p:spPr>
          <a:xfrm>
            <a:off x="722135" y="5588652"/>
            <a:ext cx="5116565" cy="2581275"/>
          </a:xfrm>
          <a:prstGeom prst="rect">
            <a:avLst/>
          </a:prstGeom>
        </p:spPr>
        <p:txBody>
          <a:bodyPr lIns="0" tIns="0" rIns="0" bIns="0" rtlCol="0" anchor="t">
            <a:spAutoFit/>
          </a:bodyPr>
          <a:lstStyle/>
          <a:p>
            <a:pPr marL="0" lvl="0" indent="0" algn="ctr">
              <a:lnSpc>
                <a:spcPts val="21000"/>
              </a:lnSpc>
              <a:spcBef>
                <a:spcPct val="0"/>
              </a:spcBef>
            </a:pPr>
            <a:r>
              <a:rPr lang="en-US" sz="15000" spc="-960">
                <a:gradFill>
                  <a:gsLst>
                    <a:gs pos="0">
                      <a:srgbClr val="3A58E4">
                        <a:alpha val="100000"/>
                      </a:srgbClr>
                    </a:gs>
                    <a:gs pos="100000">
                      <a:srgbClr val="293E9C">
                        <a:alpha val="100000"/>
                      </a:srgbClr>
                    </a:gs>
                  </a:gsLst>
                  <a:path path="circle">
                    <a:fillToRect r="100000" b="100000"/>
                  </a:path>
                  <a:tileRect l="-100000" t="-100000"/>
                </a:gradFill>
                <a:latin typeface="Bricolage Grotesque"/>
                <a:ea typeface="Bricolage Grotesque"/>
                <a:cs typeface="Bricolage Grotesque"/>
                <a:sym typeface="Bricolage Grotesque"/>
              </a:rPr>
              <a:t>94%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6938179" cy="10287000"/>
            <a:chOff x="0" y="0"/>
            <a:chExt cx="1827339" cy="2709333"/>
          </a:xfrm>
        </p:grpSpPr>
        <p:sp>
          <p:nvSpPr>
            <p:cNvPr id="3" name="Freeform 3"/>
            <p:cNvSpPr/>
            <p:nvPr/>
          </p:nvSpPr>
          <p:spPr>
            <a:xfrm>
              <a:off x="0" y="0"/>
              <a:ext cx="1827339" cy="2709333"/>
            </a:xfrm>
            <a:custGeom>
              <a:avLst/>
              <a:gdLst/>
              <a:ahLst/>
              <a:cxnLst/>
              <a:rect l="l" t="t" r="r" b="b"/>
              <a:pathLst>
                <a:path w="1827339" h="2709333">
                  <a:moveTo>
                    <a:pt x="0" y="0"/>
                  </a:moveTo>
                  <a:lnTo>
                    <a:pt x="1827339" y="0"/>
                  </a:lnTo>
                  <a:lnTo>
                    <a:pt x="1827339"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1827339" cy="2747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a:off x="5343219" y="4032536"/>
            <a:ext cx="3189919" cy="620584"/>
          </a:xfrm>
          <a:custGeom>
            <a:avLst/>
            <a:gdLst/>
            <a:ahLst/>
            <a:cxnLst/>
            <a:rect l="l" t="t" r="r" b="b"/>
            <a:pathLst>
              <a:path w="3189919" h="620584">
                <a:moveTo>
                  <a:pt x="0" y="0"/>
                </a:moveTo>
                <a:lnTo>
                  <a:pt x="3189919" y="0"/>
                </a:lnTo>
                <a:lnTo>
                  <a:pt x="3189919" y="620584"/>
                </a:lnTo>
                <a:lnTo>
                  <a:pt x="0" y="620584"/>
                </a:lnTo>
                <a:lnTo>
                  <a:pt x="0" y="0"/>
                </a:lnTo>
                <a:close/>
              </a:path>
            </a:pathLst>
          </a:custGeom>
          <a:blipFill>
            <a:blip r:embed="rId2"/>
            <a:stretch>
              <a:fillRect/>
            </a:stretch>
          </a:blipFill>
        </p:spPr>
      </p:sp>
      <p:grpSp>
        <p:nvGrpSpPr>
          <p:cNvPr id="6" name="Group 6"/>
          <p:cNvGrpSpPr/>
          <p:nvPr/>
        </p:nvGrpSpPr>
        <p:grpSpPr>
          <a:xfrm>
            <a:off x="5459316" y="1438329"/>
            <a:ext cx="2920486" cy="2916826"/>
            <a:chOff x="0" y="0"/>
            <a:chExt cx="567580" cy="566868"/>
          </a:xfrm>
        </p:grpSpPr>
        <p:sp>
          <p:nvSpPr>
            <p:cNvPr id="7" name="Freeform 7"/>
            <p:cNvSpPr/>
            <p:nvPr/>
          </p:nvSpPr>
          <p:spPr>
            <a:xfrm>
              <a:off x="0" y="0"/>
              <a:ext cx="567580" cy="566868"/>
            </a:xfrm>
            <a:custGeom>
              <a:avLst/>
              <a:gdLst/>
              <a:ahLst/>
              <a:cxnLst/>
              <a:rect l="l" t="t" r="r" b="b"/>
              <a:pathLst>
                <a:path w="567580" h="566868">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8" name="TextBox 8"/>
            <p:cNvSpPr txBox="1"/>
            <p:nvPr/>
          </p:nvSpPr>
          <p:spPr>
            <a:xfrm>
              <a:off x="0" y="28575"/>
              <a:ext cx="567580" cy="538293"/>
            </a:xfrm>
            <a:prstGeom prst="rect">
              <a:avLst/>
            </a:prstGeom>
          </p:spPr>
          <p:txBody>
            <a:bodyPr lIns="65745" tIns="65745" rIns="65745" bIns="65745" rtlCol="0" anchor="ctr"/>
            <a:lstStyle/>
            <a:p>
              <a:pPr marL="0" lvl="0" indent="0" algn="ctr">
                <a:lnSpc>
                  <a:spcPts val="2460"/>
                </a:lnSpc>
              </a:pPr>
              <a:endParaRPr/>
            </a:p>
          </p:txBody>
        </p:sp>
      </p:grpSp>
      <p:sp>
        <p:nvSpPr>
          <p:cNvPr id="9" name="TextBox 9"/>
          <p:cNvSpPr txBox="1"/>
          <p:nvPr/>
        </p:nvSpPr>
        <p:spPr>
          <a:xfrm>
            <a:off x="5708475" y="2199673"/>
            <a:ext cx="2459408" cy="807581"/>
          </a:xfrm>
          <a:prstGeom prst="rect">
            <a:avLst/>
          </a:prstGeom>
        </p:spPr>
        <p:txBody>
          <a:bodyPr lIns="0" tIns="0" rIns="0" bIns="0" rtlCol="0" anchor="t">
            <a:spAutoFit/>
          </a:bodyPr>
          <a:lstStyle/>
          <a:p>
            <a:pPr marL="0" lvl="0" indent="0" algn="ctr">
              <a:lnSpc>
                <a:spcPts val="6024"/>
              </a:lnSpc>
            </a:pPr>
            <a:r>
              <a:rPr lang="en-US" sz="6085" b="1" spc="-182">
                <a:solidFill>
                  <a:srgbClr val="FFFFFF"/>
                </a:solidFill>
                <a:latin typeface="Bricolage Grotesque Bold"/>
                <a:ea typeface="Bricolage Grotesque Bold"/>
                <a:cs typeface="Bricolage Grotesque Bold"/>
                <a:sym typeface="Bricolage Grotesque Bold"/>
              </a:rPr>
              <a:t>92%</a:t>
            </a:r>
          </a:p>
        </p:txBody>
      </p:sp>
      <p:sp>
        <p:nvSpPr>
          <p:cNvPr id="10" name="TextBox 10"/>
          <p:cNvSpPr txBox="1"/>
          <p:nvPr/>
        </p:nvSpPr>
        <p:spPr>
          <a:xfrm>
            <a:off x="5940959" y="3190825"/>
            <a:ext cx="1957200" cy="517286"/>
          </a:xfrm>
          <a:prstGeom prst="rect">
            <a:avLst/>
          </a:prstGeom>
        </p:spPr>
        <p:txBody>
          <a:bodyPr lIns="0" tIns="0" rIns="0" bIns="0" rtlCol="0" anchor="t">
            <a:spAutoFit/>
          </a:bodyPr>
          <a:lstStyle/>
          <a:p>
            <a:pPr marL="0" lvl="0" indent="0" algn="ctr">
              <a:lnSpc>
                <a:spcPts val="2087"/>
              </a:lnSpc>
            </a:pPr>
            <a:r>
              <a:rPr lang="en-US" sz="1490" spc="-37">
                <a:solidFill>
                  <a:srgbClr val="FFFFFF"/>
                </a:solidFill>
                <a:latin typeface="Poppins"/>
                <a:ea typeface="Poppins"/>
                <a:cs typeface="Poppins"/>
                <a:sym typeface="Poppins"/>
              </a:rPr>
              <a:t>FRAUD CASES CORRECTLY IDENTIFIED</a:t>
            </a:r>
          </a:p>
        </p:txBody>
      </p:sp>
      <p:sp>
        <p:nvSpPr>
          <p:cNvPr id="11" name="Freeform 11"/>
          <p:cNvSpPr/>
          <p:nvPr/>
        </p:nvSpPr>
        <p:spPr>
          <a:xfrm>
            <a:off x="1029399" y="4148267"/>
            <a:ext cx="1042906" cy="1015196"/>
          </a:xfrm>
          <a:custGeom>
            <a:avLst/>
            <a:gdLst/>
            <a:ahLst/>
            <a:cxnLst/>
            <a:rect l="l" t="t" r="r" b="b"/>
            <a:pathLst>
              <a:path w="1042906" h="1015196">
                <a:moveTo>
                  <a:pt x="0" y="0"/>
                </a:moveTo>
                <a:lnTo>
                  <a:pt x="1042906" y="0"/>
                </a:lnTo>
                <a:lnTo>
                  <a:pt x="1042906" y="1015196"/>
                </a:lnTo>
                <a:lnTo>
                  <a:pt x="0" y="1015196"/>
                </a:lnTo>
                <a:lnTo>
                  <a:pt x="0" y="0"/>
                </a:lnTo>
                <a:close/>
              </a:path>
            </a:pathLst>
          </a:custGeom>
          <a:blipFill>
            <a:blip r:embed="rId3"/>
            <a:stretch>
              <a:fillRect/>
            </a:stretch>
          </a:blipFill>
        </p:spPr>
      </p:sp>
      <p:sp>
        <p:nvSpPr>
          <p:cNvPr id="12" name="TextBox 12"/>
          <p:cNvSpPr txBox="1"/>
          <p:nvPr/>
        </p:nvSpPr>
        <p:spPr>
          <a:xfrm>
            <a:off x="1028700" y="5634333"/>
            <a:ext cx="4378886" cy="381856"/>
          </a:xfrm>
          <a:prstGeom prst="rect">
            <a:avLst/>
          </a:prstGeom>
        </p:spPr>
        <p:txBody>
          <a:bodyPr lIns="0" tIns="0" rIns="0" bIns="0" rtlCol="0" anchor="t">
            <a:spAutoFit/>
          </a:bodyPr>
          <a:lstStyle/>
          <a:p>
            <a:pPr marL="0" lvl="0" indent="0" algn="l">
              <a:lnSpc>
                <a:spcPts val="3366"/>
              </a:lnSpc>
            </a:pPr>
            <a:r>
              <a:rPr lang="en-US" sz="1558" b="1">
                <a:solidFill>
                  <a:srgbClr val="FFFFFF"/>
                </a:solidFill>
                <a:latin typeface="Poppins Bold"/>
                <a:ea typeface="Poppins Bold"/>
                <a:cs typeface="Poppins Bold"/>
                <a:sym typeface="Poppins Bold"/>
              </a:rPr>
              <a:t>TRUE POSITIVES (TP)</a:t>
            </a:r>
          </a:p>
        </p:txBody>
      </p:sp>
      <p:sp>
        <p:nvSpPr>
          <p:cNvPr id="13" name="TextBox 13"/>
          <p:cNvSpPr txBox="1"/>
          <p:nvPr/>
        </p:nvSpPr>
        <p:spPr>
          <a:xfrm>
            <a:off x="1028700" y="6429088"/>
            <a:ext cx="4378886" cy="213072"/>
          </a:xfrm>
          <a:prstGeom prst="rect">
            <a:avLst/>
          </a:prstGeom>
        </p:spPr>
        <p:txBody>
          <a:bodyPr lIns="0" tIns="0" rIns="0" bIns="0" rtlCol="0" anchor="t">
            <a:spAutoFit/>
          </a:bodyPr>
          <a:lstStyle/>
          <a:p>
            <a:pPr marL="0" lvl="0" indent="0" algn="just">
              <a:lnSpc>
                <a:spcPts val="1617"/>
              </a:lnSpc>
            </a:pPr>
            <a:r>
              <a:rPr lang="en-US" sz="1325">
                <a:solidFill>
                  <a:srgbClr val="FFFFFF"/>
                </a:solidFill>
                <a:latin typeface="Poppins"/>
                <a:ea typeface="Poppins"/>
                <a:cs typeface="Poppins"/>
                <a:sym typeface="Poppins"/>
              </a:rPr>
              <a:t>Fraudulent claims correctly flagged by the model.</a:t>
            </a:r>
          </a:p>
        </p:txBody>
      </p:sp>
      <p:grpSp>
        <p:nvGrpSpPr>
          <p:cNvPr id="14" name="Group 14"/>
          <p:cNvGrpSpPr/>
          <p:nvPr/>
        </p:nvGrpSpPr>
        <p:grpSpPr>
          <a:xfrm>
            <a:off x="1028700" y="7453933"/>
            <a:ext cx="4378886" cy="494777"/>
            <a:chOff x="0" y="0"/>
            <a:chExt cx="5838515" cy="659703"/>
          </a:xfrm>
        </p:grpSpPr>
        <p:sp>
          <p:nvSpPr>
            <p:cNvPr id="15" name="TextBox 15"/>
            <p:cNvSpPr txBox="1"/>
            <p:nvPr/>
          </p:nvSpPr>
          <p:spPr>
            <a:xfrm>
              <a:off x="0" y="-152400"/>
              <a:ext cx="5838515" cy="458342"/>
            </a:xfrm>
            <a:prstGeom prst="rect">
              <a:avLst/>
            </a:prstGeom>
          </p:spPr>
          <p:txBody>
            <a:bodyPr lIns="0" tIns="0" rIns="0" bIns="0" rtlCol="0" anchor="t">
              <a:spAutoFit/>
            </a:bodyPr>
            <a:lstStyle/>
            <a:p>
              <a:pPr marL="0" lvl="0" indent="0" algn="l">
                <a:lnSpc>
                  <a:spcPts val="3366"/>
                </a:lnSpc>
              </a:pPr>
              <a:r>
                <a:rPr lang="en-US" sz="1558" b="1">
                  <a:solidFill>
                    <a:srgbClr val="FFFFFF"/>
                  </a:solidFill>
                  <a:latin typeface="Poppins Bold"/>
                  <a:ea typeface="Poppins Bold"/>
                  <a:cs typeface="Poppins Bold"/>
                  <a:sym typeface="Poppins Bold"/>
                </a:rPr>
                <a:t>TRUE NEGATIVES (TN)</a:t>
              </a:r>
            </a:p>
          </p:txBody>
        </p:sp>
        <p:sp>
          <p:nvSpPr>
            <p:cNvPr id="16" name="TextBox 16"/>
            <p:cNvSpPr txBox="1"/>
            <p:nvPr/>
          </p:nvSpPr>
          <p:spPr>
            <a:xfrm>
              <a:off x="0" y="381957"/>
              <a:ext cx="5838515" cy="277745"/>
            </a:xfrm>
            <a:prstGeom prst="rect">
              <a:avLst/>
            </a:prstGeom>
          </p:spPr>
          <p:txBody>
            <a:bodyPr lIns="0" tIns="0" rIns="0" bIns="0" rtlCol="0" anchor="t">
              <a:spAutoFit/>
            </a:bodyPr>
            <a:lstStyle/>
            <a:p>
              <a:pPr marL="0" lvl="0" indent="0" algn="just">
                <a:lnSpc>
                  <a:spcPts val="1617"/>
                </a:lnSpc>
              </a:pPr>
              <a:r>
                <a:rPr lang="en-US" sz="1325">
                  <a:solidFill>
                    <a:srgbClr val="FFFFFF"/>
                  </a:solidFill>
                  <a:latin typeface="Poppins"/>
                  <a:ea typeface="Poppins"/>
                  <a:cs typeface="Poppins"/>
                  <a:sym typeface="Poppins"/>
                </a:rPr>
                <a:t>Legitimate claims correctly classified as normal.</a:t>
              </a:r>
            </a:p>
          </p:txBody>
        </p:sp>
      </p:grpSp>
      <p:grpSp>
        <p:nvGrpSpPr>
          <p:cNvPr id="17" name="Group 17"/>
          <p:cNvGrpSpPr/>
          <p:nvPr/>
        </p:nvGrpSpPr>
        <p:grpSpPr>
          <a:xfrm>
            <a:off x="1028700" y="8763523"/>
            <a:ext cx="4378886" cy="494777"/>
            <a:chOff x="0" y="0"/>
            <a:chExt cx="5838515" cy="659703"/>
          </a:xfrm>
        </p:grpSpPr>
        <p:sp>
          <p:nvSpPr>
            <p:cNvPr id="18" name="TextBox 18"/>
            <p:cNvSpPr txBox="1"/>
            <p:nvPr/>
          </p:nvSpPr>
          <p:spPr>
            <a:xfrm>
              <a:off x="0" y="-152400"/>
              <a:ext cx="5838515" cy="458342"/>
            </a:xfrm>
            <a:prstGeom prst="rect">
              <a:avLst/>
            </a:prstGeom>
          </p:spPr>
          <p:txBody>
            <a:bodyPr lIns="0" tIns="0" rIns="0" bIns="0" rtlCol="0" anchor="t">
              <a:spAutoFit/>
            </a:bodyPr>
            <a:lstStyle/>
            <a:p>
              <a:pPr marL="0" lvl="0" indent="0" algn="l">
                <a:lnSpc>
                  <a:spcPts val="3366"/>
                </a:lnSpc>
              </a:pPr>
              <a:r>
                <a:rPr lang="en-US" sz="1558" b="1">
                  <a:solidFill>
                    <a:srgbClr val="FFFFFF"/>
                  </a:solidFill>
                  <a:latin typeface="Poppins Bold"/>
                  <a:ea typeface="Poppins Bold"/>
                  <a:cs typeface="Poppins Bold"/>
                  <a:sym typeface="Poppins Bold"/>
                </a:rPr>
                <a:t>FALSE POSITIVES (FP)</a:t>
              </a:r>
            </a:p>
          </p:txBody>
        </p:sp>
        <p:sp>
          <p:nvSpPr>
            <p:cNvPr id="19" name="TextBox 19"/>
            <p:cNvSpPr txBox="1"/>
            <p:nvPr/>
          </p:nvSpPr>
          <p:spPr>
            <a:xfrm>
              <a:off x="0" y="381957"/>
              <a:ext cx="5838515" cy="277745"/>
            </a:xfrm>
            <a:prstGeom prst="rect">
              <a:avLst/>
            </a:prstGeom>
          </p:spPr>
          <p:txBody>
            <a:bodyPr lIns="0" tIns="0" rIns="0" bIns="0" rtlCol="0" anchor="t">
              <a:spAutoFit/>
            </a:bodyPr>
            <a:lstStyle/>
            <a:p>
              <a:pPr marL="0" lvl="0" indent="0" algn="just">
                <a:lnSpc>
                  <a:spcPts val="1617"/>
                </a:lnSpc>
              </a:pPr>
              <a:r>
                <a:rPr lang="en-US" sz="1325">
                  <a:solidFill>
                    <a:srgbClr val="FFFFFF"/>
                  </a:solidFill>
                  <a:latin typeface="Poppins"/>
                  <a:ea typeface="Poppins"/>
                  <a:cs typeface="Poppins"/>
                  <a:sym typeface="Poppins"/>
                </a:rPr>
                <a:t>Normal claims incorrectly flagged as fraud.</a:t>
              </a:r>
            </a:p>
          </p:txBody>
        </p:sp>
      </p:grpSp>
      <p:grpSp>
        <p:nvGrpSpPr>
          <p:cNvPr id="20" name="Group 20"/>
          <p:cNvGrpSpPr/>
          <p:nvPr/>
        </p:nvGrpSpPr>
        <p:grpSpPr>
          <a:xfrm>
            <a:off x="9345491" y="1458584"/>
            <a:ext cx="7522404" cy="7468718"/>
            <a:chOff x="0" y="0"/>
            <a:chExt cx="10029872" cy="9958290"/>
          </a:xfrm>
        </p:grpSpPr>
        <p:sp>
          <p:nvSpPr>
            <p:cNvPr id="21" name="TextBox 21"/>
            <p:cNvSpPr txBox="1"/>
            <p:nvPr/>
          </p:nvSpPr>
          <p:spPr>
            <a:xfrm>
              <a:off x="1033544" y="-47625"/>
              <a:ext cx="7126880" cy="372392"/>
            </a:xfrm>
            <a:prstGeom prst="rect">
              <a:avLst/>
            </a:prstGeom>
          </p:spPr>
          <p:txBody>
            <a:bodyPr lIns="0" tIns="0" rIns="0" bIns="0" rtlCol="0" anchor="t">
              <a:spAutoFit/>
            </a:bodyPr>
            <a:lstStyle/>
            <a:p>
              <a:pPr marL="0" lvl="0" indent="0" algn="just">
                <a:lnSpc>
                  <a:spcPts val="2324"/>
                </a:lnSpc>
              </a:pPr>
              <a:r>
                <a:rPr lang="en-US" sz="1660" b="1" spc="-41">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TRUE POSITIVES (TP)</a:t>
              </a:r>
            </a:p>
          </p:txBody>
        </p:sp>
        <p:sp>
          <p:nvSpPr>
            <p:cNvPr id="22" name="TextBox 22"/>
            <p:cNvSpPr txBox="1"/>
            <p:nvPr/>
          </p:nvSpPr>
          <p:spPr>
            <a:xfrm>
              <a:off x="1033544" y="1810569"/>
              <a:ext cx="8996329" cy="1063152"/>
            </a:xfrm>
            <a:prstGeom prst="rect">
              <a:avLst/>
            </a:prstGeom>
          </p:spPr>
          <p:txBody>
            <a:bodyPr lIns="0" tIns="0" rIns="0" bIns="0" rtlCol="0" anchor="t">
              <a:spAutoFit/>
            </a:bodyPr>
            <a:lstStyle/>
            <a:p>
              <a:pPr marL="0" lvl="0" indent="0" algn="just">
                <a:lnSpc>
                  <a:spcPts val="2119"/>
                </a:lnSpc>
              </a:pPr>
              <a:r>
                <a:rPr lang="en-US" sz="1513" spc="-37">
                  <a:solidFill>
                    <a:srgbClr val="3A58E4"/>
                  </a:solidFill>
                  <a:latin typeface="Poppins"/>
                  <a:ea typeface="Poppins"/>
                  <a:cs typeface="Poppins"/>
                  <a:sym typeface="Poppins"/>
                </a:rPr>
                <a:t>The model successfully identified 847 fraudulent claims out of 920 actual fraud cases. These are claims where suspicious billing patterns, provider anomalies, or claim amount discrepancies were correctly detected.</a:t>
              </a:r>
            </a:p>
          </p:txBody>
        </p:sp>
        <p:sp>
          <p:nvSpPr>
            <p:cNvPr id="23" name="TextBox 23"/>
            <p:cNvSpPr txBox="1"/>
            <p:nvPr/>
          </p:nvSpPr>
          <p:spPr>
            <a:xfrm>
              <a:off x="1033544" y="3494660"/>
              <a:ext cx="7126880" cy="372392"/>
            </a:xfrm>
            <a:prstGeom prst="rect">
              <a:avLst/>
            </a:prstGeom>
          </p:spPr>
          <p:txBody>
            <a:bodyPr lIns="0" tIns="0" rIns="0" bIns="0" rtlCol="0" anchor="t">
              <a:spAutoFit/>
            </a:bodyPr>
            <a:lstStyle/>
            <a:p>
              <a:pPr marL="0" lvl="0" indent="0" algn="just">
                <a:lnSpc>
                  <a:spcPts val="2324"/>
                </a:lnSpc>
              </a:pPr>
              <a:r>
                <a:rPr lang="en-US" sz="1660" b="1" spc="-41">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FALSE NEGATIVES (FN)</a:t>
              </a:r>
            </a:p>
          </p:txBody>
        </p:sp>
        <p:sp>
          <p:nvSpPr>
            <p:cNvPr id="24" name="TextBox 24"/>
            <p:cNvSpPr txBox="1"/>
            <p:nvPr/>
          </p:nvSpPr>
          <p:spPr>
            <a:xfrm>
              <a:off x="1033544" y="5352854"/>
              <a:ext cx="8996329" cy="1063152"/>
            </a:xfrm>
            <a:prstGeom prst="rect">
              <a:avLst/>
            </a:prstGeom>
          </p:spPr>
          <p:txBody>
            <a:bodyPr lIns="0" tIns="0" rIns="0" bIns="0" rtlCol="0" anchor="t">
              <a:spAutoFit/>
            </a:bodyPr>
            <a:lstStyle/>
            <a:p>
              <a:pPr marL="0" lvl="0" indent="0" algn="just">
                <a:lnSpc>
                  <a:spcPts val="2119"/>
                </a:lnSpc>
              </a:pPr>
              <a:r>
                <a:rPr lang="en-US" sz="1513" spc="-37">
                  <a:solidFill>
                    <a:srgbClr val="3A58E4"/>
                  </a:solidFill>
                  <a:latin typeface="Poppins"/>
                  <a:ea typeface="Poppins"/>
                  <a:cs typeface="Poppins"/>
                  <a:sym typeface="Poppins"/>
                </a:rPr>
                <a:t>73 fraud cases were missed by the model, classified as normal. These represent potential financial losses and highlight areas for model improvement, particularly in detecting subtle fraud patterns.</a:t>
              </a:r>
            </a:p>
          </p:txBody>
        </p:sp>
        <p:sp>
          <p:nvSpPr>
            <p:cNvPr id="25" name="TextBox 25"/>
            <p:cNvSpPr txBox="1"/>
            <p:nvPr/>
          </p:nvSpPr>
          <p:spPr>
            <a:xfrm>
              <a:off x="1033544" y="7036944"/>
              <a:ext cx="7126880" cy="372392"/>
            </a:xfrm>
            <a:prstGeom prst="rect">
              <a:avLst/>
            </a:prstGeom>
          </p:spPr>
          <p:txBody>
            <a:bodyPr lIns="0" tIns="0" rIns="0" bIns="0" rtlCol="0" anchor="t">
              <a:spAutoFit/>
            </a:bodyPr>
            <a:lstStyle/>
            <a:p>
              <a:pPr marL="0" lvl="0" indent="0" algn="just">
                <a:lnSpc>
                  <a:spcPts val="2324"/>
                </a:lnSpc>
              </a:pPr>
              <a:r>
                <a:rPr lang="en-US" sz="1660" b="1" spc="-41">
                  <a:gradFill>
                    <a:gsLst>
                      <a:gs pos="0">
                        <a:srgbClr val="293E9C">
                          <a:alpha val="100000"/>
                        </a:srgbClr>
                      </a:gs>
                      <a:gs pos="100000">
                        <a:srgbClr val="3A58E4">
                          <a:alpha val="100000"/>
                        </a:srgbClr>
                      </a:gs>
                    </a:gsLst>
                    <a:path path="circle">
                      <a:fillToRect r="100000" b="100000"/>
                    </a:path>
                    <a:tileRect l="-100000" t="-100000"/>
                  </a:gradFill>
                  <a:latin typeface="Poppins Bold"/>
                  <a:ea typeface="Poppins Bold"/>
                  <a:cs typeface="Poppins Bold"/>
                  <a:sym typeface="Poppins Bold"/>
                </a:rPr>
                <a:t>MODEL INTERPRETATION</a:t>
              </a:r>
            </a:p>
          </p:txBody>
        </p:sp>
        <p:sp>
          <p:nvSpPr>
            <p:cNvPr id="26" name="TextBox 26"/>
            <p:cNvSpPr txBox="1"/>
            <p:nvPr/>
          </p:nvSpPr>
          <p:spPr>
            <a:xfrm>
              <a:off x="1033544" y="8539538"/>
              <a:ext cx="8996329" cy="1418752"/>
            </a:xfrm>
            <a:prstGeom prst="rect">
              <a:avLst/>
            </a:prstGeom>
          </p:spPr>
          <p:txBody>
            <a:bodyPr lIns="0" tIns="0" rIns="0" bIns="0" rtlCol="0" anchor="t">
              <a:spAutoFit/>
            </a:bodyPr>
            <a:lstStyle/>
            <a:p>
              <a:pPr marL="0" lvl="0" indent="0" algn="just">
                <a:lnSpc>
                  <a:spcPts val="2119"/>
                </a:lnSpc>
              </a:pPr>
              <a:r>
                <a:rPr lang="en-US" sz="1513" spc="-37">
                  <a:solidFill>
                    <a:srgbClr val="3A58E4"/>
                  </a:solidFill>
                  <a:latin typeface="Poppins"/>
                  <a:ea typeface="Poppins"/>
                  <a:cs typeface="Poppins"/>
                  <a:sym typeface="Poppins"/>
                </a:rPr>
                <a:t>The confusion matrix reveals strong fraud detection capability with high true positive rate. However, the false negative rate indicates room for improvement in catching sophisticated fraud schemes that evade current detection rules.</a:t>
              </a:r>
            </a:p>
          </p:txBody>
        </p:sp>
        <p:sp>
          <p:nvSpPr>
            <p:cNvPr id="27" name="TextBox 27"/>
            <p:cNvSpPr txBox="1"/>
            <p:nvPr/>
          </p:nvSpPr>
          <p:spPr>
            <a:xfrm>
              <a:off x="0" y="1204451"/>
              <a:ext cx="643052" cy="258084"/>
            </a:xfrm>
            <a:prstGeom prst="rect">
              <a:avLst/>
            </a:prstGeom>
          </p:spPr>
          <p:txBody>
            <a:bodyPr lIns="0" tIns="0" rIns="0" bIns="0" rtlCol="0" anchor="t">
              <a:spAutoFit/>
            </a:bodyPr>
            <a:lstStyle/>
            <a:p>
              <a:pPr marL="0" lvl="0" indent="0" algn="l">
                <a:lnSpc>
                  <a:spcPts val="1351"/>
                </a:lnSpc>
              </a:pPr>
              <a:r>
                <a:rPr lang="en-US" sz="1364" spc="-40">
                  <a:solidFill>
                    <a:srgbClr val="3A58E4"/>
                  </a:solidFill>
                  <a:latin typeface="Bricolage Grotesque"/>
                  <a:ea typeface="Bricolage Grotesque"/>
                  <a:cs typeface="Bricolage Grotesque"/>
                  <a:sym typeface="Bricolage Grotesque"/>
                </a:rPr>
                <a:t>01</a:t>
              </a:r>
            </a:p>
          </p:txBody>
        </p:sp>
        <p:sp>
          <p:nvSpPr>
            <p:cNvPr id="28" name="TextBox 28"/>
            <p:cNvSpPr txBox="1"/>
            <p:nvPr/>
          </p:nvSpPr>
          <p:spPr>
            <a:xfrm>
              <a:off x="0" y="4746735"/>
              <a:ext cx="643052" cy="258084"/>
            </a:xfrm>
            <a:prstGeom prst="rect">
              <a:avLst/>
            </a:prstGeom>
          </p:spPr>
          <p:txBody>
            <a:bodyPr lIns="0" tIns="0" rIns="0" bIns="0" rtlCol="0" anchor="t">
              <a:spAutoFit/>
            </a:bodyPr>
            <a:lstStyle/>
            <a:p>
              <a:pPr marL="0" lvl="0" indent="0" algn="l">
                <a:lnSpc>
                  <a:spcPts val="1351"/>
                </a:lnSpc>
              </a:pPr>
              <a:r>
                <a:rPr lang="en-US" sz="1364" spc="-40">
                  <a:solidFill>
                    <a:srgbClr val="3A58E4"/>
                  </a:solidFill>
                  <a:latin typeface="Bricolage Grotesque"/>
                  <a:ea typeface="Bricolage Grotesque"/>
                  <a:cs typeface="Bricolage Grotesque"/>
                  <a:sym typeface="Bricolage Grotesque"/>
                </a:rPr>
                <a:t>02</a:t>
              </a:r>
            </a:p>
          </p:txBody>
        </p:sp>
        <p:sp>
          <p:nvSpPr>
            <p:cNvPr id="29" name="TextBox 29"/>
            <p:cNvSpPr txBox="1"/>
            <p:nvPr/>
          </p:nvSpPr>
          <p:spPr>
            <a:xfrm>
              <a:off x="0" y="8289020"/>
              <a:ext cx="643052" cy="258084"/>
            </a:xfrm>
            <a:prstGeom prst="rect">
              <a:avLst/>
            </a:prstGeom>
          </p:spPr>
          <p:txBody>
            <a:bodyPr lIns="0" tIns="0" rIns="0" bIns="0" rtlCol="0" anchor="t">
              <a:spAutoFit/>
            </a:bodyPr>
            <a:lstStyle/>
            <a:p>
              <a:pPr marL="0" lvl="0" indent="0" algn="l">
                <a:lnSpc>
                  <a:spcPts val="1351"/>
                </a:lnSpc>
              </a:pPr>
              <a:r>
                <a:rPr lang="en-US" sz="1364" spc="-40">
                  <a:solidFill>
                    <a:srgbClr val="3A58E4"/>
                  </a:solidFill>
                  <a:latin typeface="Bricolage Grotesque"/>
                  <a:ea typeface="Bricolage Grotesque"/>
                  <a:cs typeface="Bricolage Grotesque"/>
                  <a:sym typeface="Bricolage Grotesque"/>
                </a:rPr>
                <a:t>03</a:t>
              </a:r>
            </a:p>
          </p:txBody>
        </p:sp>
      </p:grpSp>
      <p:grpSp>
        <p:nvGrpSpPr>
          <p:cNvPr id="30" name="Group 30"/>
          <p:cNvGrpSpPr/>
          <p:nvPr/>
        </p:nvGrpSpPr>
        <p:grpSpPr>
          <a:xfrm>
            <a:off x="1028700" y="1196251"/>
            <a:ext cx="24226" cy="1038034"/>
            <a:chOff x="0" y="0"/>
            <a:chExt cx="12543" cy="537460"/>
          </a:xfrm>
        </p:grpSpPr>
        <p:sp>
          <p:nvSpPr>
            <p:cNvPr id="31" name="Freeform 31"/>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FFFFFF"/>
            </a:solidFill>
          </p:spPr>
        </p:sp>
        <p:sp>
          <p:nvSpPr>
            <p:cNvPr id="32" name="TextBox 32"/>
            <p:cNvSpPr txBox="1"/>
            <p:nvPr/>
          </p:nvSpPr>
          <p:spPr>
            <a:xfrm>
              <a:off x="0" y="-38100"/>
              <a:ext cx="12543" cy="57556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33" name="TextBox 33"/>
          <p:cNvSpPr txBox="1"/>
          <p:nvPr/>
        </p:nvSpPr>
        <p:spPr>
          <a:xfrm>
            <a:off x="1144711" y="1133573"/>
            <a:ext cx="2753109" cy="1268262"/>
          </a:xfrm>
          <a:prstGeom prst="rect">
            <a:avLst/>
          </a:prstGeom>
        </p:spPr>
        <p:txBody>
          <a:bodyPr lIns="0" tIns="0" rIns="0" bIns="0" rtlCol="0" anchor="t">
            <a:spAutoFit/>
          </a:bodyPr>
          <a:lstStyle/>
          <a:p>
            <a:pPr marL="0" lvl="0" indent="0" algn="l">
              <a:lnSpc>
                <a:spcPts val="4881"/>
              </a:lnSpc>
            </a:pPr>
            <a:r>
              <a:rPr lang="en-US" sz="4981" spc="-318">
                <a:solidFill>
                  <a:srgbClr val="FFFFFF"/>
                </a:solidFill>
                <a:latin typeface="Bricolage Grotesque"/>
                <a:ea typeface="Bricolage Grotesque"/>
                <a:cs typeface="Bricolage Grotesque"/>
                <a:sym typeface="Bricolage Grotesque"/>
              </a:rPr>
              <a:t>Confusion Matrix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438046" y="290997"/>
            <a:ext cx="1849954" cy="1557169"/>
            <a:chOff x="0" y="0"/>
            <a:chExt cx="2466605" cy="2076226"/>
          </a:xfrm>
        </p:grpSpPr>
        <p:grpSp>
          <p:nvGrpSpPr>
            <p:cNvPr id="3" name="Group 3"/>
            <p:cNvGrpSpPr/>
            <p:nvPr/>
          </p:nvGrpSpPr>
          <p:grpSpPr>
            <a:xfrm>
              <a:off x="0" y="0"/>
              <a:ext cx="2466605" cy="2076226"/>
              <a:chOff x="0" y="0"/>
              <a:chExt cx="787566" cy="662921"/>
            </a:xfrm>
          </p:grpSpPr>
          <p:sp>
            <p:nvSpPr>
              <p:cNvPr id="4" name="Freeform 4"/>
              <p:cNvSpPr/>
              <p:nvPr/>
            </p:nvSpPr>
            <p:spPr>
              <a:xfrm>
                <a:off x="0" y="0"/>
                <a:ext cx="787566" cy="662921"/>
              </a:xfrm>
              <a:custGeom>
                <a:avLst/>
                <a:gdLst/>
                <a:ahLst/>
                <a:cxnLst/>
                <a:rect l="l" t="t" r="r" b="b"/>
                <a:pathLst>
                  <a:path w="787566" h="662921">
                    <a:moveTo>
                      <a:pt x="0" y="0"/>
                    </a:moveTo>
                    <a:lnTo>
                      <a:pt x="787566" y="0"/>
                    </a:lnTo>
                    <a:lnTo>
                      <a:pt x="787566" y="662921"/>
                    </a:lnTo>
                    <a:lnTo>
                      <a:pt x="0" y="662921"/>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701021"/>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19164" y="665474"/>
              <a:ext cx="1828278" cy="840528"/>
            </a:xfrm>
            <a:prstGeom prst="rect">
              <a:avLst/>
            </a:prstGeom>
          </p:spPr>
          <p:txBody>
            <a:bodyPr lIns="0" tIns="0" rIns="0" bIns="0" rtlCol="0" anchor="t">
              <a:spAutoFit/>
            </a:bodyPr>
            <a:lstStyle/>
            <a:p>
              <a:pPr marL="0" lvl="0" indent="0" algn="ctr">
                <a:lnSpc>
                  <a:spcPts val="4571"/>
                </a:lnSpc>
              </a:pPr>
              <a:r>
                <a:rPr lang="en-US" sz="4664" spc="-298">
                  <a:solidFill>
                    <a:srgbClr val="FFFFFF"/>
                  </a:solidFill>
                  <a:latin typeface="Bricolage Grotesque"/>
                  <a:ea typeface="Bricolage Grotesque"/>
                  <a:cs typeface="Bricolage Grotesque"/>
                  <a:sym typeface="Bricolage Grotesque"/>
                </a:rPr>
                <a:t>08</a:t>
              </a:r>
            </a:p>
          </p:txBody>
        </p:sp>
      </p:grpSp>
      <p:grpSp>
        <p:nvGrpSpPr>
          <p:cNvPr id="7" name="Group 7"/>
          <p:cNvGrpSpPr/>
          <p:nvPr/>
        </p:nvGrpSpPr>
        <p:grpSpPr>
          <a:xfrm>
            <a:off x="5545788" y="3062727"/>
            <a:ext cx="7196424" cy="379246"/>
            <a:chOff x="0" y="0"/>
            <a:chExt cx="9595232" cy="505662"/>
          </a:xfrm>
        </p:grpSpPr>
        <p:sp>
          <p:nvSpPr>
            <p:cNvPr id="8" name="TextBox 8"/>
            <p:cNvSpPr txBox="1"/>
            <p:nvPr/>
          </p:nvSpPr>
          <p:spPr>
            <a:xfrm>
              <a:off x="0" y="111921"/>
              <a:ext cx="9378912" cy="393740"/>
            </a:xfrm>
            <a:prstGeom prst="rect">
              <a:avLst/>
            </a:prstGeom>
          </p:spPr>
          <p:txBody>
            <a:bodyPr lIns="0" tIns="0" rIns="0" bIns="0" rtlCol="0" anchor="t">
              <a:spAutoFit/>
            </a:bodyPr>
            <a:lstStyle/>
            <a:p>
              <a:pPr marL="0" lvl="0" indent="0" algn="l">
                <a:lnSpc>
                  <a:spcPts val="2360"/>
                </a:lnSpc>
              </a:pPr>
              <a:r>
                <a:rPr lang="en-US" sz="1686" b="1" spc="-42">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KEY METRICS TO EVALUATE FRAUD DETECTION MODEL PERFORMANCE</a:t>
              </a:r>
            </a:p>
          </p:txBody>
        </p:sp>
        <p:sp>
          <p:nvSpPr>
            <p:cNvPr id="9" name="Freeform 9"/>
            <p:cNvSpPr/>
            <p:nvPr/>
          </p:nvSpPr>
          <p:spPr>
            <a:xfrm rot="-8687136">
              <a:off x="9278212"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grpSp>
        <p:nvGrpSpPr>
          <p:cNvPr id="10" name="Group 10"/>
          <p:cNvGrpSpPr/>
          <p:nvPr/>
        </p:nvGrpSpPr>
        <p:grpSpPr>
          <a:xfrm>
            <a:off x="1463921" y="4926041"/>
            <a:ext cx="3746706" cy="374670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2" name="TextBox 12"/>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3" name="Group 13"/>
          <p:cNvGrpSpPr/>
          <p:nvPr/>
        </p:nvGrpSpPr>
        <p:grpSpPr>
          <a:xfrm>
            <a:off x="5334452" y="4926041"/>
            <a:ext cx="3746706" cy="374670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a:ln cap="sq">
              <a:noFill/>
              <a:prstDash val="solid"/>
              <a:miter/>
            </a:ln>
          </p:spPr>
        </p:sp>
        <p:sp>
          <p:nvSpPr>
            <p:cNvPr id="15" name="TextBox 15"/>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6" name="Group 16"/>
          <p:cNvGrpSpPr/>
          <p:nvPr/>
        </p:nvGrpSpPr>
        <p:grpSpPr>
          <a:xfrm>
            <a:off x="9205912" y="4926041"/>
            <a:ext cx="3746706" cy="374670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8" name="TextBox 18"/>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grpSp>
        <p:nvGrpSpPr>
          <p:cNvPr id="19" name="Group 19"/>
          <p:cNvGrpSpPr/>
          <p:nvPr/>
        </p:nvGrpSpPr>
        <p:grpSpPr>
          <a:xfrm>
            <a:off x="13077373" y="4926041"/>
            <a:ext cx="3746706" cy="374670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21" name="TextBox 21"/>
            <p:cNvSpPr txBox="1"/>
            <p:nvPr/>
          </p:nvSpPr>
          <p:spPr>
            <a:xfrm>
              <a:off x="76200" y="38100"/>
              <a:ext cx="660400" cy="698500"/>
            </a:xfrm>
            <a:prstGeom prst="rect">
              <a:avLst/>
            </a:prstGeom>
          </p:spPr>
          <p:txBody>
            <a:bodyPr lIns="40108" tIns="40108" rIns="40108" bIns="40108" rtlCol="0" anchor="ctr"/>
            <a:lstStyle/>
            <a:p>
              <a:pPr marL="0" lvl="0" indent="0" algn="ctr">
                <a:lnSpc>
                  <a:spcPts val="2659"/>
                </a:lnSpc>
              </a:pPr>
              <a:endParaRPr/>
            </a:p>
          </p:txBody>
        </p:sp>
      </p:grpSp>
      <p:sp>
        <p:nvSpPr>
          <p:cNvPr id="22" name="TextBox 22"/>
          <p:cNvSpPr txBox="1"/>
          <p:nvPr/>
        </p:nvSpPr>
        <p:spPr>
          <a:xfrm>
            <a:off x="2345222" y="6289433"/>
            <a:ext cx="1984104" cy="270558"/>
          </a:xfrm>
          <a:prstGeom prst="rect">
            <a:avLst/>
          </a:prstGeom>
        </p:spPr>
        <p:txBody>
          <a:bodyPr lIns="0" tIns="0" rIns="0" bIns="0" rtlCol="0" anchor="t">
            <a:spAutoFit/>
          </a:bodyPr>
          <a:lstStyle/>
          <a:p>
            <a:pPr marL="0" lvl="0" indent="0" algn="ctr">
              <a:lnSpc>
                <a:spcPts val="2061"/>
              </a:lnSpc>
            </a:pPr>
            <a:r>
              <a:rPr lang="en-US" sz="1598" b="1" spc="-4">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PRECISION</a:t>
            </a:r>
          </a:p>
        </p:txBody>
      </p:sp>
      <p:sp>
        <p:nvSpPr>
          <p:cNvPr id="23" name="TextBox 23"/>
          <p:cNvSpPr txBox="1"/>
          <p:nvPr/>
        </p:nvSpPr>
        <p:spPr>
          <a:xfrm>
            <a:off x="2124549" y="7203272"/>
            <a:ext cx="2425450" cy="405056"/>
          </a:xfrm>
          <a:prstGeom prst="rect">
            <a:avLst/>
          </a:prstGeom>
        </p:spPr>
        <p:txBody>
          <a:bodyPr lIns="0" tIns="0" rIns="0" bIns="0" rtlCol="0" anchor="t">
            <a:spAutoFit/>
          </a:bodyPr>
          <a:lstStyle/>
          <a:p>
            <a:pPr marL="0" lvl="0" indent="0" algn="ctr">
              <a:lnSpc>
                <a:spcPts val="1585"/>
              </a:lnSpc>
            </a:pPr>
            <a:r>
              <a:rPr lang="en-US" sz="1228" spc="-3">
                <a:solidFill>
                  <a:srgbClr val="3A58E4"/>
                </a:solidFill>
                <a:latin typeface="Poppins"/>
                <a:ea typeface="Poppins"/>
                <a:cs typeface="Poppins"/>
                <a:sym typeface="Poppins"/>
              </a:rPr>
              <a:t>Proportion of flagged claims that are truly fraudulent</a:t>
            </a:r>
          </a:p>
        </p:txBody>
      </p:sp>
      <p:sp>
        <p:nvSpPr>
          <p:cNvPr id="24" name="TextBox 24"/>
          <p:cNvSpPr txBox="1"/>
          <p:nvPr/>
        </p:nvSpPr>
        <p:spPr>
          <a:xfrm>
            <a:off x="6215753" y="6289433"/>
            <a:ext cx="1984104" cy="270558"/>
          </a:xfrm>
          <a:prstGeom prst="rect">
            <a:avLst/>
          </a:prstGeom>
        </p:spPr>
        <p:txBody>
          <a:bodyPr lIns="0" tIns="0" rIns="0" bIns="0" rtlCol="0" anchor="t">
            <a:spAutoFit/>
          </a:bodyPr>
          <a:lstStyle/>
          <a:p>
            <a:pPr marL="0" lvl="0" indent="0" algn="ctr">
              <a:lnSpc>
                <a:spcPts val="2061"/>
              </a:lnSpc>
            </a:pPr>
            <a:r>
              <a:rPr lang="en-US" sz="1598" b="1" spc="-4">
                <a:solidFill>
                  <a:srgbClr val="FFFFFF"/>
                </a:solidFill>
                <a:latin typeface="Poppins Bold"/>
                <a:ea typeface="Poppins Bold"/>
                <a:cs typeface="Poppins Bold"/>
                <a:sym typeface="Poppins Bold"/>
              </a:rPr>
              <a:t>RECALL</a:t>
            </a:r>
          </a:p>
        </p:txBody>
      </p:sp>
      <p:sp>
        <p:nvSpPr>
          <p:cNvPr id="25" name="TextBox 25"/>
          <p:cNvSpPr txBox="1"/>
          <p:nvPr/>
        </p:nvSpPr>
        <p:spPr>
          <a:xfrm>
            <a:off x="5995080" y="7203272"/>
            <a:ext cx="2425450" cy="405056"/>
          </a:xfrm>
          <a:prstGeom prst="rect">
            <a:avLst/>
          </a:prstGeom>
        </p:spPr>
        <p:txBody>
          <a:bodyPr lIns="0" tIns="0" rIns="0" bIns="0" rtlCol="0" anchor="t">
            <a:spAutoFit/>
          </a:bodyPr>
          <a:lstStyle/>
          <a:p>
            <a:pPr marL="0" lvl="0" indent="0" algn="ctr">
              <a:lnSpc>
                <a:spcPts val="1585"/>
              </a:lnSpc>
            </a:pPr>
            <a:r>
              <a:rPr lang="en-US" sz="1228" spc="-3">
                <a:solidFill>
                  <a:srgbClr val="FFFFFF"/>
                </a:solidFill>
                <a:latin typeface="Poppins"/>
                <a:ea typeface="Poppins"/>
                <a:cs typeface="Poppins"/>
                <a:sym typeface="Poppins"/>
              </a:rPr>
              <a:t>Proportion of actual fraud cases successfully detected</a:t>
            </a:r>
          </a:p>
        </p:txBody>
      </p:sp>
      <p:sp>
        <p:nvSpPr>
          <p:cNvPr id="26" name="TextBox 26"/>
          <p:cNvSpPr txBox="1"/>
          <p:nvPr/>
        </p:nvSpPr>
        <p:spPr>
          <a:xfrm>
            <a:off x="9901910" y="6289433"/>
            <a:ext cx="2354710" cy="270558"/>
          </a:xfrm>
          <a:prstGeom prst="rect">
            <a:avLst/>
          </a:prstGeom>
        </p:spPr>
        <p:txBody>
          <a:bodyPr lIns="0" tIns="0" rIns="0" bIns="0" rtlCol="0" anchor="t">
            <a:spAutoFit/>
          </a:bodyPr>
          <a:lstStyle/>
          <a:p>
            <a:pPr marL="0" lvl="0" indent="0" algn="ctr">
              <a:lnSpc>
                <a:spcPts val="2061"/>
              </a:lnSpc>
            </a:pPr>
            <a:r>
              <a:rPr lang="en-US" sz="1598" b="1" spc="-4">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FALSE POSITIVE RATE</a:t>
            </a:r>
          </a:p>
        </p:txBody>
      </p:sp>
      <p:sp>
        <p:nvSpPr>
          <p:cNvPr id="27" name="TextBox 27"/>
          <p:cNvSpPr txBox="1"/>
          <p:nvPr/>
        </p:nvSpPr>
        <p:spPr>
          <a:xfrm>
            <a:off x="9866540" y="7203272"/>
            <a:ext cx="2425450" cy="405056"/>
          </a:xfrm>
          <a:prstGeom prst="rect">
            <a:avLst/>
          </a:prstGeom>
        </p:spPr>
        <p:txBody>
          <a:bodyPr lIns="0" tIns="0" rIns="0" bIns="0" rtlCol="0" anchor="t">
            <a:spAutoFit/>
          </a:bodyPr>
          <a:lstStyle/>
          <a:p>
            <a:pPr marL="0" lvl="0" indent="0" algn="ctr">
              <a:lnSpc>
                <a:spcPts val="1585"/>
              </a:lnSpc>
            </a:pPr>
            <a:r>
              <a:rPr lang="en-US" sz="1228" spc="-3">
                <a:solidFill>
                  <a:srgbClr val="3A58E4"/>
                </a:solidFill>
                <a:latin typeface="Poppins"/>
                <a:ea typeface="Poppins"/>
                <a:cs typeface="Poppins"/>
                <a:sym typeface="Poppins"/>
              </a:rPr>
              <a:t>Normal claims incorrectly flagged as fraudulent</a:t>
            </a:r>
          </a:p>
        </p:txBody>
      </p:sp>
      <p:sp>
        <p:nvSpPr>
          <p:cNvPr id="28" name="TextBox 28"/>
          <p:cNvSpPr txBox="1"/>
          <p:nvPr/>
        </p:nvSpPr>
        <p:spPr>
          <a:xfrm>
            <a:off x="13958674" y="6029183"/>
            <a:ext cx="1984104" cy="530809"/>
          </a:xfrm>
          <a:prstGeom prst="rect">
            <a:avLst/>
          </a:prstGeom>
        </p:spPr>
        <p:txBody>
          <a:bodyPr lIns="0" tIns="0" rIns="0" bIns="0" rtlCol="0" anchor="t">
            <a:spAutoFit/>
          </a:bodyPr>
          <a:lstStyle/>
          <a:p>
            <a:pPr marL="0" lvl="0" indent="0" algn="ctr">
              <a:lnSpc>
                <a:spcPts val="2061"/>
              </a:lnSpc>
            </a:pPr>
            <a:r>
              <a:rPr lang="en-US" sz="1598" b="1" spc="-4">
                <a:solidFill>
                  <a:srgbClr val="FFFFFF"/>
                </a:solidFill>
                <a:latin typeface="Poppins Bold"/>
                <a:ea typeface="Poppins Bold"/>
                <a:cs typeface="Poppins Bold"/>
                <a:sym typeface="Poppins Bold"/>
              </a:rPr>
              <a:t>FALSE NEGATIVE RATE</a:t>
            </a:r>
          </a:p>
        </p:txBody>
      </p:sp>
      <p:sp>
        <p:nvSpPr>
          <p:cNvPr id="29" name="TextBox 29"/>
          <p:cNvSpPr txBox="1"/>
          <p:nvPr/>
        </p:nvSpPr>
        <p:spPr>
          <a:xfrm>
            <a:off x="13738001" y="7203272"/>
            <a:ext cx="2425450" cy="405056"/>
          </a:xfrm>
          <a:prstGeom prst="rect">
            <a:avLst/>
          </a:prstGeom>
        </p:spPr>
        <p:txBody>
          <a:bodyPr lIns="0" tIns="0" rIns="0" bIns="0" rtlCol="0" anchor="t">
            <a:spAutoFit/>
          </a:bodyPr>
          <a:lstStyle/>
          <a:p>
            <a:pPr marL="0" lvl="0" indent="0" algn="ctr">
              <a:lnSpc>
                <a:spcPts val="1585"/>
              </a:lnSpc>
            </a:pPr>
            <a:r>
              <a:rPr lang="en-US" sz="1228" spc="-3">
                <a:solidFill>
                  <a:srgbClr val="FFFFFF"/>
                </a:solidFill>
                <a:latin typeface="Poppins"/>
                <a:ea typeface="Poppins"/>
                <a:cs typeface="Poppins"/>
                <a:sym typeface="Poppins"/>
              </a:rPr>
              <a:t>Fraudulent claims missed by the detection model</a:t>
            </a:r>
          </a:p>
        </p:txBody>
      </p:sp>
      <p:grpSp>
        <p:nvGrpSpPr>
          <p:cNvPr id="30" name="Group 30"/>
          <p:cNvGrpSpPr/>
          <p:nvPr/>
        </p:nvGrpSpPr>
        <p:grpSpPr>
          <a:xfrm>
            <a:off x="4176506" y="5023470"/>
            <a:ext cx="746986" cy="649557"/>
            <a:chOff x="0" y="0"/>
            <a:chExt cx="995981" cy="866076"/>
          </a:xfrm>
        </p:grpSpPr>
        <p:grpSp>
          <p:nvGrpSpPr>
            <p:cNvPr id="31" name="Group 31"/>
            <p:cNvGrpSpPr/>
            <p:nvPr/>
          </p:nvGrpSpPr>
          <p:grpSpPr>
            <a:xfrm>
              <a:off x="0" y="0"/>
              <a:ext cx="995981" cy="866076"/>
              <a:chOff x="0" y="0"/>
              <a:chExt cx="812800" cy="706787"/>
            </a:xfrm>
          </p:grpSpPr>
          <p:sp>
            <p:nvSpPr>
              <p:cNvPr id="32" name="Freeform 32"/>
              <p:cNvSpPr/>
              <p:nvPr/>
            </p:nvSpPr>
            <p:spPr>
              <a:xfrm>
                <a:off x="0" y="0"/>
                <a:ext cx="812800" cy="706787"/>
              </a:xfrm>
              <a:custGeom>
                <a:avLst/>
                <a:gdLst/>
                <a:ahLst/>
                <a:cxnLst/>
                <a:rect l="l" t="t" r="r" b="b"/>
                <a:pathLst>
                  <a:path w="812800" h="706787">
                    <a:moveTo>
                      <a:pt x="406400" y="0"/>
                    </a:moveTo>
                    <a:cubicBezTo>
                      <a:pt x="181951" y="0"/>
                      <a:pt x="0" y="158220"/>
                      <a:pt x="0" y="353394"/>
                    </a:cubicBezTo>
                    <a:cubicBezTo>
                      <a:pt x="0" y="548568"/>
                      <a:pt x="181951" y="706787"/>
                      <a:pt x="406400" y="706787"/>
                    </a:cubicBezTo>
                    <a:cubicBezTo>
                      <a:pt x="630849" y="706787"/>
                      <a:pt x="812800" y="548568"/>
                      <a:pt x="812800" y="353394"/>
                    </a:cubicBezTo>
                    <a:cubicBezTo>
                      <a:pt x="812800" y="158220"/>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33" name="TextBox 33"/>
              <p:cNvSpPr txBox="1"/>
              <p:nvPr/>
            </p:nvSpPr>
            <p:spPr>
              <a:xfrm>
                <a:off x="76200" y="28161"/>
                <a:ext cx="660400" cy="612365"/>
              </a:xfrm>
              <a:prstGeom prst="rect">
                <a:avLst/>
              </a:prstGeom>
            </p:spPr>
            <p:txBody>
              <a:bodyPr lIns="50800" tIns="50800" rIns="50800" bIns="50800" rtlCol="0" anchor="ctr"/>
              <a:lstStyle/>
              <a:p>
                <a:pPr marL="0" lvl="0" indent="0" algn="ctr">
                  <a:lnSpc>
                    <a:spcPts val="2659"/>
                  </a:lnSpc>
                </a:pPr>
                <a:endParaRPr/>
              </a:p>
            </p:txBody>
          </p:sp>
        </p:grpSp>
        <p:sp>
          <p:nvSpPr>
            <p:cNvPr id="34" name="TextBox 34"/>
            <p:cNvSpPr txBox="1"/>
            <p:nvPr/>
          </p:nvSpPr>
          <p:spPr>
            <a:xfrm>
              <a:off x="175623" y="245086"/>
              <a:ext cx="644736" cy="347329"/>
            </a:xfrm>
            <a:prstGeom prst="rect">
              <a:avLst/>
            </a:prstGeom>
          </p:spPr>
          <p:txBody>
            <a:bodyPr lIns="0" tIns="0" rIns="0" bIns="0" rtlCol="0" anchor="t">
              <a:spAutoFit/>
            </a:bodyPr>
            <a:lstStyle/>
            <a:p>
              <a:pPr marL="0" lvl="0" indent="0" algn="ctr">
                <a:lnSpc>
                  <a:spcPts val="2043"/>
                </a:lnSpc>
              </a:pPr>
              <a:r>
                <a:rPr lang="en-US" sz="1584" spc="-4">
                  <a:solidFill>
                    <a:srgbClr val="FFFFFF"/>
                  </a:solidFill>
                  <a:latin typeface="Poppins"/>
                  <a:ea typeface="Poppins"/>
                  <a:cs typeface="Poppins"/>
                  <a:sym typeface="Poppins"/>
                </a:rPr>
                <a:t>01</a:t>
              </a:r>
            </a:p>
          </p:txBody>
        </p:sp>
      </p:grpSp>
      <p:grpSp>
        <p:nvGrpSpPr>
          <p:cNvPr id="35" name="Group 35"/>
          <p:cNvGrpSpPr/>
          <p:nvPr/>
        </p:nvGrpSpPr>
        <p:grpSpPr>
          <a:xfrm>
            <a:off x="8047037" y="5023470"/>
            <a:ext cx="746986" cy="649557"/>
            <a:chOff x="0" y="0"/>
            <a:chExt cx="995981" cy="866076"/>
          </a:xfrm>
        </p:grpSpPr>
        <p:grpSp>
          <p:nvGrpSpPr>
            <p:cNvPr id="36" name="Group 36"/>
            <p:cNvGrpSpPr/>
            <p:nvPr/>
          </p:nvGrpSpPr>
          <p:grpSpPr>
            <a:xfrm>
              <a:off x="0" y="0"/>
              <a:ext cx="995981" cy="866076"/>
              <a:chOff x="0" y="0"/>
              <a:chExt cx="812800" cy="706787"/>
            </a:xfrm>
          </p:grpSpPr>
          <p:sp>
            <p:nvSpPr>
              <p:cNvPr id="37" name="Freeform 37"/>
              <p:cNvSpPr/>
              <p:nvPr/>
            </p:nvSpPr>
            <p:spPr>
              <a:xfrm>
                <a:off x="0" y="0"/>
                <a:ext cx="812800" cy="706787"/>
              </a:xfrm>
              <a:custGeom>
                <a:avLst/>
                <a:gdLst/>
                <a:ahLst/>
                <a:cxnLst/>
                <a:rect l="l" t="t" r="r" b="b"/>
                <a:pathLst>
                  <a:path w="812800" h="706787">
                    <a:moveTo>
                      <a:pt x="406400" y="0"/>
                    </a:moveTo>
                    <a:cubicBezTo>
                      <a:pt x="181951" y="0"/>
                      <a:pt x="0" y="158220"/>
                      <a:pt x="0" y="353394"/>
                    </a:cubicBezTo>
                    <a:cubicBezTo>
                      <a:pt x="0" y="548568"/>
                      <a:pt x="181951" y="706787"/>
                      <a:pt x="406400" y="706787"/>
                    </a:cubicBezTo>
                    <a:cubicBezTo>
                      <a:pt x="630849" y="706787"/>
                      <a:pt x="812800" y="548568"/>
                      <a:pt x="812800" y="353394"/>
                    </a:cubicBezTo>
                    <a:cubicBezTo>
                      <a:pt x="812800" y="15822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38" name="TextBox 38"/>
              <p:cNvSpPr txBox="1"/>
              <p:nvPr/>
            </p:nvSpPr>
            <p:spPr>
              <a:xfrm>
                <a:off x="76200" y="28161"/>
                <a:ext cx="660400" cy="612365"/>
              </a:xfrm>
              <a:prstGeom prst="rect">
                <a:avLst/>
              </a:prstGeom>
            </p:spPr>
            <p:txBody>
              <a:bodyPr lIns="50800" tIns="50800" rIns="50800" bIns="50800" rtlCol="0" anchor="ctr"/>
              <a:lstStyle/>
              <a:p>
                <a:pPr marL="0" lvl="0" indent="0" algn="ctr">
                  <a:lnSpc>
                    <a:spcPts val="2659"/>
                  </a:lnSpc>
                </a:pPr>
                <a:endParaRPr/>
              </a:p>
            </p:txBody>
          </p:sp>
        </p:grpSp>
        <p:sp>
          <p:nvSpPr>
            <p:cNvPr id="39" name="TextBox 39"/>
            <p:cNvSpPr txBox="1"/>
            <p:nvPr/>
          </p:nvSpPr>
          <p:spPr>
            <a:xfrm>
              <a:off x="175623" y="245086"/>
              <a:ext cx="644736" cy="347329"/>
            </a:xfrm>
            <a:prstGeom prst="rect">
              <a:avLst/>
            </a:prstGeom>
          </p:spPr>
          <p:txBody>
            <a:bodyPr lIns="0" tIns="0" rIns="0" bIns="0" rtlCol="0" anchor="t">
              <a:spAutoFit/>
            </a:bodyPr>
            <a:lstStyle/>
            <a:p>
              <a:pPr marL="0" lvl="0" indent="0" algn="ctr">
                <a:lnSpc>
                  <a:spcPts val="2043"/>
                </a:lnSpc>
              </a:pPr>
              <a:r>
                <a:rPr lang="en-US" sz="1584" spc="-4">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02</a:t>
              </a:r>
            </a:p>
          </p:txBody>
        </p:sp>
      </p:grpSp>
      <p:grpSp>
        <p:nvGrpSpPr>
          <p:cNvPr id="40" name="Group 40"/>
          <p:cNvGrpSpPr/>
          <p:nvPr/>
        </p:nvGrpSpPr>
        <p:grpSpPr>
          <a:xfrm>
            <a:off x="11919608" y="5023470"/>
            <a:ext cx="746986" cy="649557"/>
            <a:chOff x="0" y="0"/>
            <a:chExt cx="995981" cy="866076"/>
          </a:xfrm>
        </p:grpSpPr>
        <p:grpSp>
          <p:nvGrpSpPr>
            <p:cNvPr id="41" name="Group 41"/>
            <p:cNvGrpSpPr/>
            <p:nvPr/>
          </p:nvGrpSpPr>
          <p:grpSpPr>
            <a:xfrm>
              <a:off x="0" y="0"/>
              <a:ext cx="995981" cy="866076"/>
              <a:chOff x="0" y="0"/>
              <a:chExt cx="812800" cy="706787"/>
            </a:xfrm>
          </p:grpSpPr>
          <p:sp>
            <p:nvSpPr>
              <p:cNvPr id="42" name="Freeform 42"/>
              <p:cNvSpPr/>
              <p:nvPr/>
            </p:nvSpPr>
            <p:spPr>
              <a:xfrm>
                <a:off x="0" y="0"/>
                <a:ext cx="812800" cy="706787"/>
              </a:xfrm>
              <a:custGeom>
                <a:avLst/>
                <a:gdLst/>
                <a:ahLst/>
                <a:cxnLst/>
                <a:rect l="l" t="t" r="r" b="b"/>
                <a:pathLst>
                  <a:path w="812800" h="706787">
                    <a:moveTo>
                      <a:pt x="406400" y="0"/>
                    </a:moveTo>
                    <a:cubicBezTo>
                      <a:pt x="181951" y="0"/>
                      <a:pt x="0" y="158220"/>
                      <a:pt x="0" y="353394"/>
                    </a:cubicBezTo>
                    <a:cubicBezTo>
                      <a:pt x="0" y="548568"/>
                      <a:pt x="181951" y="706787"/>
                      <a:pt x="406400" y="706787"/>
                    </a:cubicBezTo>
                    <a:cubicBezTo>
                      <a:pt x="630849" y="706787"/>
                      <a:pt x="812800" y="548568"/>
                      <a:pt x="812800" y="353394"/>
                    </a:cubicBezTo>
                    <a:cubicBezTo>
                      <a:pt x="812800" y="158220"/>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43" name="TextBox 43"/>
              <p:cNvSpPr txBox="1"/>
              <p:nvPr/>
            </p:nvSpPr>
            <p:spPr>
              <a:xfrm>
                <a:off x="76200" y="28161"/>
                <a:ext cx="660400" cy="612365"/>
              </a:xfrm>
              <a:prstGeom prst="rect">
                <a:avLst/>
              </a:prstGeom>
            </p:spPr>
            <p:txBody>
              <a:bodyPr lIns="50800" tIns="50800" rIns="50800" bIns="50800" rtlCol="0" anchor="ctr"/>
              <a:lstStyle/>
              <a:p>
                <a:pPr marL="0" lvl="0" indent="0" algn="ctr">
                  <a:lnSpc>
                    <a:spcPts val="2659"/>
                  </a:lnSpc>
                </a:pPr>
                <a:endParaRPr/>
              </a:p>
            </p:txBody>
          </p:sp>
        </p:grpSp>
        <p:sp>
          <p:nvSpPr>
            <p:cNvPr id="44" name="TextBox 44"/>
            <p:cNvSpPr txBox="1"/>
            <p:nvPr/>
          </p:nvSpPr>
          <p:spPr>
            <a:xfrm>
              <a:off x="175623" y="245086"/>
              <a:ext cx="644736" cy="347329"/>
            </a:xfrm>
            <a:prstGeom prst="rect">
              <a:avLst/>
            </a:prstGeom>
          </p:spPr>
          <p:txBody>
            <a:bodyPr lIns="0" tIns="0" rIns="0" bIns="0" rtlCol="0" anchor="t">
              <a:spAutoFit/>
            </a:bodyPr>
            <a:lstStyle/>
            <a:p>
              <a:pPr marL="0" lvl="0" indent="0" algn="ctr">
                <a:lnSpc>
                  <a:spcPts val="2043"/>
                </a:lnSpc>
              </a:pPr>
              <a:r>
                <a:rPr lang="en-US" sz="1584" spc="-4">
                  <a:solidFill>
                    <a:srgbClr val="FFFFFF"/>
                  </a:solidFill>
                  <a:latin typeface="Poppins"/>
                  <a:ea typeface="Poppins"/>
                  <a:cs typeface="Poppins"/>
                  <a:sym typeface="Poppins"/>
                </a:rPr>
                <a:t>03</a:t>
              </a:r>
            </a:p>
          </p:txBody>
        </p:sp>
      </p:grpSp>
      <p:grpSp>
        <p:nvGrpSpPr>
          <p:cNvPr id="45" name="Group 45"/>
          <p:cNvGrpSpPr/>
          <p:nvPr/>
        </p:nvGrpSpPr>
        <p:grpSpPr>
          <a:xfrm>
            <a:off x="15791068" y="5023470"/>
            <a:ext cx="746986" cy="649557"/>
            <a:chOff x="0" y="0"/>
            <a:chExt cx="995981" cy="866076"/>
          </a:xfrm>
        </p:grpSpPr>
        <p:grpSp>
          <p:nvGrpSpPr>
            <p:cNvPr id="46" name="Group 46"/>
            <p:cNvGrpSpPr/>
            <p:nvPr/>
          </p:nvGrpSpPr>
          <p:grpSpPr>
            <a:xfrm>
              <a:off x="0" y="0"/>
              <a:ext cx="995981" cy="866076"/>
              <a:chOff x="0" y="0"/>
              <a:chExt cx="812800" cy="706787"/>
            </a:xfrm>
          </p:grpSpPr>
          <p:sp>
            <p:nvSpPr>
              <p:cNvPr id="47" name="Freeform 47"/>
              <p:cNvSpPr/>
              <p:nvPr/>
            </p:nvSpPr>
            <p:spPr>
              <a:xfrm>
                <a:off x="0" y="0"/>
                <a:ext cx="812800" cy="706787"/>
              </a:xfrm>
              <a:custGeom>
                <a:avLst/>
                <a:gdLst/>
                <a:ahLst/>
                <a:cxnLst/>
                <a:rect l="l" t="t" r="r" b="b"/>
                <a:pathLst>
                  <a:path w="812800" h="706787">
                    <a:moveTo>
                      <a:pt x="406400" y="0"/>
                    </a:moveTo>
                    <a:cubicBezTo>
                      <a:pt x="181951" y="0"/>
                      <a:pt x="0" y="158220"/>
                      <a:pt x="0" y="353394"/>
                    </a:cubicBezTo>
                    <a:cubicBezTo>
                      <a:pt x="0" y="548568"/>
                      <a:pt x="181951" y="706787"/>
                      <a:pt x="406400" y="706787"/>
                    </a:cubicBezTo>
                    <a:cubicBezTo>
                      <a:pt x="630849" y="706787"/>
                      <a:pt x="812800" y="548568"/>
                      <a:pt x="812800" y="353394"/>
                    </a:cubicBezTo>
                    <a:cubicBezTo>
                      <a:pt x="812800" y="158220"/>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48" name="TextBox 48"/>
              <p:cNvSpPr txBox="1"/>
              <p:nvPr/>
            </p:nvSpPr>
            <p:spPr>
              <a:xfrm>
                <a:off x="76200" y="28161"/>
                <a:ext cx="660400" cy="612365"/>
              </a:xfrm>
              <a:prstGeom prst="rect">
                <a:avLst/>
              </a:prstGeom>
            </p:spPr>
            <p:txBody>
              <a:bodyPr lIns="50800" tIns="50800" rIns="50800" bIns="50800" rtlCol="0" anchor="ctr"/>
              <a:lstStyle/>
              <a:p>
                <a:pPr marL="0" lvl="0" indent="0" algn="ctr">
                  <a:lnSpc>
                    <a:spcPts val="2659"/>
                  </a:lnSpc>
                </a:pPr>
                <a:endParaRPr/>
              </a:p>
            </p:txBody>
          </p:sp>
        </p:grpSp>
        <p:sp>
          <p:nvSpPr>
            <p:cNvPr id="49" name="TextBox 49"/>
            <p:cNvSpPr txBox="1"/>
            <p:nvPr/>
          </p:nvSpPr>
          <p:spPr>
            <a:xfrm>
              <a:off x="175623" y="245086"/>
              <a:ext cx="644736" cy="347329"/>
            </a:xfrm>
            <a:prstGeom prst="rect">
              <a:avLst/>
            </a:prstGeom>
          </p:spPr>
          <p:txBody>
            <a:bodyPr lIns="0" tIns="0" rIns="0" bIns="0" rtlCol="0" anchor="t">
              <a:spAutoFit/>
            </a:bodyPr>
            <a:lstStyle/>
            <a:p>
              <a:pPr marL="0" lvl="0" indent="0" algn="ctr">
                <a:lnSpc>
                  <a:spcPts val="2043"/>
                </a:lnSpc>
              </a:pPr>
              <a:r>
                <a:rPr lang="en-US" sz="1584" spc="-4">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04</a:t>
              </a:r>
            </a:p>
          </p:txBody>
        </p:sp>
      </p:grpSp>
      <p:sp>
        <p:nvSpPr>
          <p:cNvPr id="50" name="TextBox 50"/>
          <p:cNvSpPr txBox="1"/>
          <p:nvPr/>
        </p:nvSpPr>
        <p:spPr>
          <a:xfrm>
            <a:off x="3363658" y="1876860"/>
            <a:ext cx="11560683" cy="928199"/>
          </a:xfrm>
          <a:prstGeom prst="rect">
            <a:avLst/>
          </a:prstGeom>
        </p:spPr>
        <p:txBody>
          <a:bodyPr lIns="0" tIns="0" rIns="0" bIns="0" rtlCol="0" anchor="t">
            <a:spAutoFit/>
          </a:bodyPr>
          <a:lstStyle/>
          <a:p>
            <a:pPr marL="0" lvl="0" indent="0" algn="ctr">
              <a:lnSpc>
                <a:spcPts val="6831"/>
              </a:lnSpc>
            </a:pPr>
            <a:r>
              <a:rPr lang="en-US" sz="6971" spc="-446">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Performance Metrics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438046" y="140321"/>
            <a:ext cx="1849954" cy="1707845"/>
            <a:chOff x="0" y="0"/>
            <a:chExt cx="2466605" cy="2277127"/>
          </a:xfrm>
        </p:grpSpPr>
        <p:grpSp>
          <p:nvGrpSpPr>
            <p:cNvPr id="3" name="Group 3"/>
            <p:cNvGrpSpPr/>
            <p:nvPr/>
          </p:nvGrpSpPr>
          <p:grpSpPr>
            <a:xfrm>
              <a:off x="0" y="0"/>
              <a:ext cx="2466605" cy="2277127"/>
              <a:chOff x="0" y="0"/>
              <a:chExt cx="787566" cy="727067"/>
            </a:xfrm>
          </p:grpSpPr>
          <p:sp>
            <p:nvSpPr>
              <p:cNvPr id="4" name="Freeform 4"/>
              <p:cNvSpPr/>
              <p:nvPr/>
            </p:nvSpPr>
            <p:spPr>
              <a:xfrm>
                <a:off x="0" y="0"/>
                <a:ext cx="787566" cy="727067"/>
              </a:xfrm>
              <a:custGeom>
                <a:avLst/>
                <a:gdLst/>
                <a:ahLst/>
                <a:cxnLst/>
                <a:rect l="l" t="t" r="r" b="b"/>
                <a:pathLst>
                  <a:path w="787566" h="727067">
                    <a:moveTo>
                      <a:pt x="0" y="0"/>
                    </a:moveTo>
                    <a:lnTo>
                      <a:pt x="787566" y="0"/>
                    </a:lnTo>
                    <a:lnTo>
                      <a:pt x="787566" y="727067"/>
                    </a:lnTo>
                    <a:lnTo>
                      <a:pt x="0" y="727067"/>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76516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TextBox 6"/>
            <p:cNvSpPr txBox="1"/>
            <p:nvPr/>
          </p:nvSpPr>
          <p:spPr>
            <a:xfrm>
              <a:off x="319164" y="684524"/>
              <a:ext cx="1828278" cy="1022379"/>
            </a:xfrm>
            <a:prstGeom prst="rect">
              <a:avLst/>
            </a:prstGeom>
          </p:spPr>
          <p:txBody>
            <a:bodyPr lIns="0" tIns="0" rIns="0" bIns="0" rtlCol="0" anchor="t">
              <a:spAutoFit/>
            </a:bodyPr>
            <a:lstStyle/>
            <a:p>
              <a:pPr marL="0" lvl="0" indent="0" algn="ctr">
                <a:lnSpc>
                  <a:spcPts val="5513"/>
                </a:lnSpc>
              </a:pPr>
              <a:r>
                <a:rPr lang="en-US" sz="5625" spc="-360">
                  <a:solidFill>
                    <a:srgbClr val="FFFFFF"/>
                  </a:solidFill>
                  <a:latin typeface="Bricolage Grotesque"/>
                  <a:ea typeface="Bricolage Grotesque"/>
                  <a:cs typeface="Bricolage Grotesque"/>
                  <a:sym typeface="Bricolage Grotesque"/>
                </a:rPr>
                <a:t>09</a:t>
              </a:r>
            </a:p>
          </p:txBody>
        </p:sp>
      </p:grpSp>
      <p:grpSp>
        <p:nvGrpSpPr>
          <p:cNvPr id="7" name="Group 7"/>
          <p:cNvGrpSpPr/>
          <p:nvPr/>
        </p:nvGrpSpPr>
        <p:grpSpPr>
          <a:xfrm>
            <a:off x="5536445" y="2779355"/>
            <a:ext cx="7215109" cy="379246"/>
            <a:chOff x="0" y="0"/>
            <a:chExt cx="9620146" cy="505662"/>
          </a:xfrm>
        </p:grpSpPr>
        <p:sp>
          <p:nvSpPr>
            <p:cNvPr id="8" name="TextBox 8"/>
            <p:cNvSpPr txBox="1"/>
            <p:nvPr/>
          </p:nvSpPr>
          <p:spPr>
            <a:xfrm>
              <a:off x="0" y="47487"/>
              <a:ext cx="9403826" cy="458175"/>
            </a:xfrm>
            <a:prstGeom prst="rect">
              <a:avLst/>
            </a:prstGeom>
          </p:spPr>
          <p:txBody>
            <a:bodyPr lIns="0" tIns="0" rIns="0" bIns="0" rtlCol="0" anchor="t">
              <a:spAutoFit/>
            </a:bodyPr>
            <a:lstStyle/>
            <a:p>
              <a:pPr marL="0" lvl="0" indent="0" algn="l">
                <a:lnSpc>
                  <a:spcPts val="2847"/>
                </a:lnSpc>
              </a:pPr>
              <a:r>
                <a:rPr lang="en-US" sz="2033" b="1" spc="-50">
                  <a:gradFill>
                    <a:gsLst>
                      <a:gs pos="0">
                        <a:srgbClr val="3A58E4">
                          <a:alpha val="100000"/>
                        </a:srgbClr>
                      </a:gs>
                      <a:gs pos="100000">
                        <a:srgbClr val="293E9C">
                          <a:alpha val="100000"/>
                        </a:srgbClr>
                      </a:gs>
                    </a:gsLst>
                    <a:path path="circle">
                      <a:fillToRect r="100000" b="100000"/>
                    </a:path>
                    <a:tileRect l="-100000" t="-100000"/>
                  </a:gradFill>
                  <a:latin typeface="Poppins Bold"/>
                  <a:ea typeface="Poppins Bold"/>
                  <a:cs typeface="Poppins Bold"/>
                  <a:sym typeface="Poppins Bold"/>
                </a:rPr>
                <a:t>SUMMARIZING RESULTS AND OUTLINING FUTURE ACTIONS</a:t>
              </a:r>
            </a:p>
          </p:txBody>
        </p:sp>
        <p:sp>
          <p:nvSpPr>
            <p:cNvPr id="9" name="Freeform 9"/>
            <p:cNvSpPr/>
            <p:nvPr/>
          </p:nvSpPr>
          <p:spPr>
            <a:xfrm rot="-8687136">
              <a:off x="9303126"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10" name="TextBox 10"/>
          <p:cNvSpPr txBox="1"/>
          <p:nvPr/>
        </p:nvSpPr>
        <p:spPr>
          <a:xfrm>
            <a:off x="3363658" y="1336138"/>
            <a:ext cx="11560683" cy="1185549"/>
          </a:xfrm>
          <a:prstGeom prst="rect">
            <a:avLst/>
          </a:prstGeom>
        </p:spPr>
        <p:txBody>
          <a:bodyPr lIns="0" tIns="0" rIns="0" bIns="0" rtlCol="0" anchor="t">
            <a:spAutoFit/>
          </a:bodyPr>
          <a:lstStyle/>
          <a:p>
            <a:pPr marL="0" lvl="0" indent="0" algn="ctr">
              <a:lnSpc>
                <a:spcPts val="8842"/>
              </a:lnSpc>
            </a:pPr>
            <a:r>
              <a:rPr lang="en-US" sz="9022" spc="-577">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Conclusion &amp; Next Steps</a:t>
            </a:r>
          </a:p>
        </p:txBody>
      </p:sp>
      <p:grpSp>
        <p:nvGrpSpPr>
          <p:cNvPr id="11" name="Group 11"/>
          <p:cNvGrpSpPr/>
          <p:nvPr/>
        </p:nvGrpSpPr>
        <p:grpSpPr>
          <a:xfrm>
            <a:off x="2731310" y="3878731"/>
            <a:ext cx="3213033" cy="5379569"/>
            <a:chOff x="0" y="0"/>
            <a:chExt cx="1387961" cy="2323857"/>
          </a:xfrm>
        </p:grpSpPr>
        <p:sp>
          <p:nvSpPr>
            <p:cNvPr id="12" name="Freeform 12"/>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2B42A8"/>
            </a:solidFill>
          </p:spPr>
        </p:sp>
        <p:sp>
          <p:nvSpPr>
            <p:cNvPr id="13" name="TextBox 13"/>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14" name="Group 14"/>
          <p:cNvGrpSpPr/>
          <p:nvPr/>
        </p:nvGrpSpPr>
        <p:grpSpPr>
          <a:xfrm>
            <a:off x="5935426" y="3878731"/>
            <a:ext cx="3213033" cy="5379569"/>
            <a:chOff x="0" y="0"/>
            <a:chExt cx="1387961" cy="2323857"/>
          </a:xfrm>
        </p:grpSpPr>
        <p:sp>
          <p:nvSpPr>
            <p:cNvPr id="15" name="Freeform 15"/>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3A58E4"/>
            </a:solidFill>
          </p:spPr>
        </p:sp>
        <p:sp>
          <p:nvSpPr>
            <p:cNvPr id="16" name="TextBox 16"/>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17" name="Group 17"/>
          <p:cNvGrpSpPr/>
          <p:nvPr/>
        </p:nvGrpSpPr>
        <p:grpSpPr>
          <a:xfrm>
            <a:off x="9139541" y="3878731"/>
            <a:ext cx="3213033" cy="5379569"/>
            <a:chOff x="0" y="0"/>
            <a:chExt cx="1387961" cy="2323857"/>
          </a:xfrm>
        </p:grpSpPr>
        <p:sp>
          <p:nvSpPr>
            <p:cNvPr id="18" name="Freeform 18"/>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6984FE"/>
            </a:solidFill>
          </p:spPr>
        </p:sp>
        <p:sp>
          <p:nvSpPr>
            <p:cNvPr id="19" name="TextBox 19"/>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20" name="Group 20"/>
          <p:cNvGrpSpPr/>
          <p:nvPr/>
        </p:nvGrpSpPr>
        <p:grpSpPr>
          <a:xfrm>
            <a:off x="12343657" y="3878731"/>
            <a:ext cx="3213033" cy="5379569"/>
            <a:chOff x="0" y="0"/>
            <a:chExt cx="1387961" cy="2323857"/>
          </a:xfrm>
        </p:grpSpPr>
        <p:sp>
          <p:nvSpPr>
            <p:cNvPr id="21" name="Freeform 21"/>
            <p:cNvSpPr/>
            <p:nvPr/>
          </p:nvSpPr>
          <p:spPr>
            <a:xfrm>
              <a:off x="0" y="0"/>
              <a:ext cx="1387961" cy="2323857"/>
            </a:xfrm>
            <a:custGeom>
              <a:avLst/>
              <a:gdLst/>
              <a:ahLst/>
              <a:cxnLst/>
              <a:rect l="l" t="t" r="r" b="b"/>
              <a:pathLst>
                <a:path w="1387961" h="2323857">
                  <a:moveTo>
                    <a:pt x="0" y="0"/>
                  </a:moveTo>
                  <a:lnTo>
                    <a:pt x="1387961" y="0"/>
                  </a:lnTo>
                  <a:lnTo>
                    <a:pt x="1387961" y="2323857"/>
                  </a:lnTo>
                  <a:lnTo>
                    <a:pt x="0" y="2323857"/>
                  </a:lnTo>
                  <a:close/>
                </a:path>
              </a:pathLst>
            </a:custGeom>
            <a:solidFill>
              <a:srgbClr val="9AADFF"/>
            </a:solidFill>
          </p:spPr>
        </p:sp>
        <p:sp>
          <p:nvSpPr>
            <p:cNvPr id="22" name="TextBox 22"/>
            <p:cNvSpPr txBox="1"/>
            <p:nvPr/>
          </p:nvSpPr>
          <p:spPr>
            <a:xfrm>
              <a:off x="0" y="-38100"/>
              <a:ext cx="1387961" cy="2361957"/>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23" name="Group 23"/>
          <p:cNvGrpSpPr/>
          <p:nvPr/>
        </p:nvGrpSpPr>
        <p:grpSpPr>
          <a:xfrm rot="5400000">
            <a:off x="2595745" y="7780405"/>
            <a:ext cx="622999" cy="351870"/>
            <a:chOff x="0" y="0"/>
            <a:chExt cx="1387983" cy="784032"/>
          </a:xfrm>
        </p:grpSpPr>
        <p:sp>
          <p:nvSpPr>
            <p:cNvPr id="24" name="Freeform 24"/>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AFBEFF"/>
            </a:solidFill>
          </p:spPr>
        </p:sp>
        <p:sp>
          <p:nvSpPr>
            <p:cNvPr id="25" name="TextBox 25"/>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26" name="Group 26"/>
          <p:cNvGrpSpPr/>
          <p:nvPr/>
        </p:nvGrpSpPr>
        <p:grpSpPr>
          <a:xfrm rot="5400000">
            <a:off x="5780811" y="5004756"/>
            <a:ext cx="622999" cy="351870"/>
            <a:chOff x="0" y="0"/>
            <a:chExt cx="1387983" cy="784032"/>
          </a:xfrm>
        </p:grpSpPr>
        <p:sp>
          <p:nvSpPr>
            <p:cNvPr id="27" name="Freeform 27"/>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2B42A8"/>
            </a:solidFill>
          </p:spPr>
        </p:sp>
        <p:sp>
          <p:nvSpPr>
            <p:cNvPr id="28" name="TextBox 28"/>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29" name="Group 29"/>
          <p:cNvGrpSpPr/>
          <p:nvPr/>
        </p:nvGrpSpPr>
        <p:grpSpPr>
          <a:xfrm rot="5400000">
            <a:off x="8984927" y="7780405"/>
            <a:ext cx="622999" cy="351870"/>
            <a:chOff x="0" y="0"/>
            <a:chExt cx="1387983" cy="784032"/>
          </a:xfrm>
        </p:grpSpPr>
        <p:sp>
          <p:nvSpPr>
            <p:cNvPr id="30" name="Freeform 30"/>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3A58E4"/>
            </a:solidFill>
          </p:spPr>
        </p:sp>
        <p:sp>
          <p:nvSpPr>
            <p:cNvPr id="31" name="TextBox 31"/>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32" name="Group 32"/>
          <p:cNvGrpSpPr/>
          <p:nvPr/>
        </p:nvGrpSpPr>
        <p:grpSpPr>
          <a:xfrm rot="5400000">
            <a:off x="12179518" y="5004756"/>
            <a:ext cx="622999" cy="351870"/>
            <a:chOff x="0" y="0"/>
            <a:chExt cx="1387983" cy="784032"/>
          </a:xfrm>
        </p:grpSpPr>
        <p:sp>
          <p:nvSpPr>
            <p:cNvPr id="33" name="Freeform 33"/>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6984FE"/>
            </a:solidFill>
          </p:spPr>
        </p:sp>
        <p:sp>
          <p:nvSpPr>
            <p:cNvPr id="34" name="TextBox 34"/>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endParaRPr/>
            </a:p>
          </p:txBody>
        </p:sp>
      </p:grpSp>
      <p:grpSp>
        <p:nvGrpSpPr>
          <p:cNvPr id="35" name="Group 35"/>
          <p:cNvGrpSpPr/>
          <p:nvPr/>
        </p:nvGrpSpPr>
        <p:grpSpPr>
          <a:xfrm>
            <a:off x="3269864" y="4727505"/>
            <a:ext cx="2135924" cy="1556792"/>
            <a:chOff x="0" y="0"/>
            <a:chExt cx="2847898" cy="2075723"/>
          </a:xfrm>
        </p:grpSpPr>
        <p:sp>
          <p:nvSpPr>
            <p:cNvPr id="36" name="TextBox 36"/>
            <p:cNvSpPr txBox="1"/>
            <p:nvPr/>
          </p:nvSpPr>
          <p:spPr>
            <a:xfrm>
              <a:off x="0" y="-19050"/>
              <a:ext cx="2847898" cy="631633"/>
            </a:xfrm>
            <a:prstGeom prst="rect">
              <a:avLst/>
            </a:prstGeom>
          </p:spPr>
          <p:txBody>
            <a:bodyPr lIns="0" tIns="0" rIns="0" bIns="0" rtlCol="0" anchor="t">
              <a:spAutoFit/>
            </a:bodyPr>
            <a:lstStyle/>
            <a:p>
              <a:pPr marL="0" lvl="0" indent="0" algn="just">
                <a:lnSpc>
                  <a:spcPts val="1897"/>
                </a:lnSpc>
              </a:pPr>
              <a:r>
                <a:rPr lang="en-US" sz="1470" b="1" spc="-4">
                  <a:solidFill>
                    <a:srgbClr val="FFFFFF"/>
                  </a:solidFill>
                  <a:latin typeface="Poppins Bold"/>
                  <a:ea typeface="Poppins Bold"/>
                  <a:cs typeface="Poppins Bold"/>
                  <a:sym typeface="Poppins Bold"/>
                </a:rPr>
                <a:t>AUTOMATED DETECTION</a:t>
              </a:r>
            </a:p>
          </p:txBody>
        </p:sp>
        <p:sp>
          <p:nvSpPr>
            <p:cNvPr id="37" name="TextBox 37"/>
            <p:cNvSpPr txBox="1"/>
            <p:nvPr/>
          </p:nvSpPr>
          <p:spPr>
            <a:xfrm>
              <a:off x="0" y="899953"/>
              <a:ext cx="2847898" cy="1175770"/>
            </a:xfrm>
            <a:prstGeom prst="rect">
              <a:avLst/>
            </a:prstGeom>
          </p:spPr>
          <p:txBody>
            <a:bodyPr lIns="0" tIns="0" rIns="0" bIns="0" rtlCol="0" anchor="t">
              <a:spAutoFit/>
            </a:bodyPr>
            <a:lstStyle/>
            <a:p>
              <a:pPr marL="0" lvl="0" indent="0" algn="just">
                <a:lnSpc>
                  <a:spcPts val="1794"/>
                </a:lnSpc>
              </a:pPr>
              <a:r>
                <a:rPr lang="en-US" sz="1391" spc="-4">
                  <a:solidFill>
                    <a:srgbClr val="FFFFFF"/>
                  </a:solidFill>
                  <a:latin typeface="Poppins"/>
                  <a:ea typeface="Poppins"/>
                  <a:cs typeface="Poppins"/>
                  <a:sym typeface="Poppins"/>
                </a:rPr>
                <a:t>Fraud detection system improves auditing efficiency and reduces manual review burden.</a:t>
              </a:r>
            </a:p>
          </p:txBody>
        </p:sp>
      </p:grpSp>
      <p:sp>
        <p:nvSpPr>
          <p:cNvPr id="38" name="TextBox 38"/>
          <p:cNvSpPr txBox="1"/>
          <p:nvPr/>
        </p:nvSpPr>
        <p:spPr>
          <a:xfrm>
            <a:off x="4470562" y="7651020"/>
            <a:ext cx="1445813" cy="1289415"/>
          </a:xfrm>
          <a:prstGeom prst="rect">
            <a:avLst/>
          </a:prstGeom>
        </p:spPr>
        <p:txBody>
          <a:bodyPr lIns="0" tIns="0" rIns="0" bIns="0" rtlCol="0" anchor="t">
            <a:spAutoFit/>
          </a:bodyPr>
          <a:lstStyle/>
          <a:p>
            <a:pPr marL="0" lvl="0" indent="0" algn="just">
              <a:lnSpc>
                <a:spcPts val="10631"/>
              </a:lnSpc>
            </a:pPr>
            <a:r>
              <a:rPr lang="en-US" sz="8241" spc="-24">
                <a:solidFill>
                  <a:srgbClr val="FFFFFF"/>
                </a:solidFill>
                <a:latin typeface="Bricolage Grotesque"/>
                <a:ea typeface="Bricolage Grotesque"/>
                <a:cs typeface="Bricolage Grotesque"/>
                <a:sym typeface="Bricolage Grotesque"/>
              </a:rPr>
              <a:t>01</a:t>
            </a:r>
          </a:p>
        </p:txBody>
      </p:sp>
      <p:grpSp>
        <p:nvGrpSpPr>
          <p:cNvPr id="39" name="Group 39"/>
          <p:cNvGrpSpPr/>
          <p:nvPr/>
        </p:nvGrpSpPr>
        <p:grpSpPr>
          <a:xfrm>
            <a:off x="6473980" y="7272073"/>
            <a:ext cx="2135924" cy="1318667"/>
            <a:chOff x="0" y="0"/>
            <a:chExt cx="2847898" cy="1758223"/>
          </a:xfrm>
        </p:grpSpPr>
        <p:sp>
          <p:nvSpPr>
            <p:cNvPr id="40" name="TextBox 40"/>
            <p:cNvSpPr txBox="1"/>
            <p:nvPr/>
          </p:nvSpPr>
          <p:spPr>
            <a:xfrm>
              <a:off x="0" y="-19050"/>
              <a:ext cx="2847898" cy="314133"/>
            </a:xfrm>
            <a:prstGeom prst="rect">
              <a:avLst/>
            </a:prstGeom>
          </p:spPr>
          <p:txBody>
            <a:bodyPr lIns="0" tIns="0" rIns="0" bIns="0" rtlCol="0" anchor="t">
              <a:spAutoFit/>
            </a:bodyPr>
            <a:lstStyle/>
            <a:p>
              <a:pPr marL="0" lvl="0" indent="0" algn="just">
                <a:lnSpc>
                  <a:spcPts val="1897"/>
                </a:lnSpc>
              </a:pPr>
              <a:r>
                <a:rPr lang="en-US" sz="1470" b="1" spc="-4">
                  <a:solidFill>
                    <a:srgbClr val="FFFFFF"/>
                  </a:solidFill>
                  <a:latin typeface="Poppins Bold"/>
                  <a:ea typeface="Poppins Bold"/>
                  <a:cs typeface="Poppins Bold"/>
                  <a:sym typeface="Poppins Bold"/>
                </a:rPr>
                <a:t>MODEL PERFORMANCE</a:t>
              </a:r>
            </a:p>
          </p:txBody>
        </p:sp>
        <p:sp>
          <p:nvSpPr>
            <p:cNvPr id="41" name="TextBox 41"/>
            <p:cNvSpPr txBox="1"/>
            <p:nvPr/>
          </p:nvSpPr>
          <p:spPr>
            <a:xfrm>
              <a:off x="0" y="582453"/>
              <a:ext cx="2847898" cy="1175770"/>
            </a:xfrm>
            <a:prstGeom prst="rect">
              <a:avLst/>
            </a:prstGeom>
          </p:spPr>
          <p:txBody>
            <a:bodyPr lIns="0" tIns="0" rIns="0" bIns="0" rtlCol="0" anchor="t">
              <a:spAutoFit/>
            </a:bodyPr>
            <a:lstStyle/>
            <a:p>
              <a:pPr marL="0" lvl="0" indent="0" algn="just">
                <a:lnSpc>
                  <a:spcPts val="1794"/>
                </a:lnSpc>
              </a:pPr>
              <a:r>
                <a:rPr lang="en-US" sz="1391" spc="-4">
                  <a:solidFill>
                    <a:srgbClr val="FFFFFF"/>
                  </a:solidFill>
                  <a:latin typeface="Poppins"/>
                  <a:ea typeface="Poppins"/>
                  <a:cs typeface="Poppins"/>
                  <a:sym typeface="Poppins"/>
                </a:rPr>
                <a:t>Results are promising but require continuous monitoring and tuning for optimal accuracy.</a:t>
              </a:r>
            </a:p>
          </p:txBody>
        </p:sp>
      </p:grpSp>
      <p:sp>
        <p:nvSpPr>
          <p:cNvPr id="42" name="TextBox 42"/>
          <p:cNvSpPr txBox="1"/>
          <p:nvPr/>
        </p:nvSpPr>
        <p:spPr>
          <a:xfrm>
            <a:off x="7425798" y="4202776"/>
            <a:ext cx="1578549" cy="1289415"/>
          </a:xfrm>
          <a:prstGeom prst="rect">
            <a:avLst/>
          </a:prstGeom>
        </p:spPr>
        <p:txBody>
          <a:bodyPr lIns="0" tIns="0" rIns="0" bIns="0" rtlCol="0" anchor="t">
            <a:spAutoFit/>
          </a:bodyPr>
          <a:lstStyle/>
          <a:p>
            <a:pPr marL="0" lvl="0" indent="0" algn="just">
              <a:lnSpc>
                <a:spcPts val="10631"/>
              </a:lnSpc>
            </a:pPr>
            <a:r>
              <a:rPr lang="en-US" sz="8241" spc="-24">
                <a:solidFill>
                  <a:srgbClr val="FFFFFF"/>
                </a:solidFill>
                <a:latin typeface="Bricolage Grotesque"/>
                <a:ea typeface="Bricolage Grotesque"/>
                <a:cs typeface="Bricolage Grotesque"/>
                <a:sym typeface="Bricolage Grotesque"/>
              </a:rPr>
              <a:t>02</a:t>
            </a:r>
          </a:p>
        </p:txBody>
      </p:sp>
      <p:grpSp>
        <p:nvGrpSpPr>
          <p:cNvPr id="43" name="Group 43"/>
          <p:cNvGrpSpPr/>
          <p:nvPr/>
        </p:nvGrpSpPr>
        <p:grpSpPr>
          <a:xfrm>
            <a:off x="9681912" y="4965630"/>
            <a:ext cx="2135924" cy="1318667"/>
            <a:chOff x="0" y="0"/>
            <a:chExt cx="2847898" cy="1758223"/>
          </a:xfrm>
        </p:grpSpPr>
        <p:sp>
          <p:nvSpPr>
            <p:cNvPr id="44" name="TextBox 44"/>
            <p:cNvSpPr txBox="1"/>
            <p:nvPr/>
          </p:nvSpPr>
          <p:spPr>
            <a:xfrm>
              <a:off x="0" y="-19050"/>
              <a:ext cx="2847898" cy="314133"/>
            </a:xfrm>
            <a:prstGeom prst="rect">
              <a:avLst/>
            </a:prstGeom>
          </p:spPr>
          <p:txBody>
            <a:bodyPr lIns="0" tIns="0" rIns="0" bIns="0" rtlCol="0" anchor="t">
              <a:spAutoFit/>
            </a:bodyPr>
            <a:lstStyle/>
            <a:p>
              <a:pPr marL="0" lvl="0" indent="0" algn="just">
                <a:lnSpc>
                  <a:spcPts val="1897"/>
                </a:lnSpc>
              </a:pPr>
              <a:r>
                <a:rPr lang="en-US" sz="1470" b="1" spc="-4">
                  <a:solidFill>
                    <a:srgbClr val="FFFFFF"/>
                  </a:solidFill>
                  <a:latin typeface="Poppins Bold"/>
                  <a:ea typeface="Poppins Bold"/>
                  <a:cs typeface="Poppins Bold"/>
                  <a:sym typeface="Poppins Bold"/>
                </a:rPr>
                <a:t>ADDRESS IMBALANCE</a:t>
              </a:r>
            </a:p>
          </p:txBody>
        </p:sp>
        <p:sp>
          <p:nvSpPr>
            <p:cNvPr id="45" name="TextBox 45"/>
            <p:cNvSpPr txBox="1"/>
            <p:nvPr/>
          </p:nvSpPr>
          <p:spPr>
            <a:xfrm>
              <a:off x="0" y="582453"/>
              <a:ext cx="2847898" cy="1175770"/>
            </a:xfrm>
            <a:prstGeom prst="rect">
              <a:avLst/>
            </a:prstGeom>
          </p:spPr>
          <p:txBody>
            <a:bodyPr lIns="0" tIns="0" rIns="0" bIns="0" rtlCol="0" anchor="t">
              <a:spAutoFit/>
            </a:bodyPr>
            <a:lstStyle/>
            <a:p>
              <a:pPr marL="0" lvl="0" indent="0" algn="just">
                <a:lnSpc>
                  <a:spcPts val="1794"/>
                </a:lnSpc>
              </a:pPr>
              <a:r>
                <a:rPr lang="en-US" sz="1391" spc="-4">
                  <a:solidFill>
                    <a:srgbClr val="FFFFFF"/>
                  </a:solidFill>
                  <a:latin typeface="Poppins"/>
                  <a:ea typeface="Poppins"/>
                  <a:cs typeface="Poppins"/>
                  <a:sym typeface="Poppins"/>
                </a:rPr>
                <a:t>Further techniques needed to handle class imbalance and improve fraud recall rates.</a:t>
              </a:r>
            </a:p>
          </p:txBody>
        </p:sp>
      </p:grpSp>
      <p:sp>
        <p:nvSpPr>
          <p:cNvPr id="46" name="TextBox 46"/>
          <p:cNvSpPr txBox="1"/>
          <p:nvPr/>
        </p:nvSpPr>
        <p:spPr>
          <a:xfrm>
            <a:off x="10617138" y="7651020"/>
            <a:ext cx="1711285" cy="1289415"/>
          </a:xfrm>
          <a:prstGeom prst="rect">
            <a:avLst/>
          </a:prstGeom>
        </p:spPr>
        <p:txBody>
          <a:bodyPr lIns="0" tIns="0" rIns="0" bIns="0" rtlCol="0" anchor="t">
            <a:spAutoFit/>
          </a:bodyPr>
          <a:lstStyle/>
          <a:p>
            <a:pPr marL="0" lvl="0" indent="0" algn="just">
              <a:lnSpc>
                <a:spcPts val="10631"/>
              </a:lnSpc>
            </a:pPr>
            <a:r>
              <a:rPr lang="en-US" sz="8241" spc="-24">
                <a:solidFill>
                  <a:srgbClr val="FFFFFF"/>
                </a:solidFill>
                <a:latin typeface="Bricolage Grotesque"/>
                <a:ea typeface="Bricolage Grotesque"/>
                <a:cs typeface="Bricolage Grotesque"/>
                <a:sym typeface="Bricolage Grotesque"/>
              </a:rPr>
              <a:t>03</a:t>
            </a:r>
          </a:p>
        </p:txBody>
      </p:sp>
      <p:grpSp>
        <p:nvGrpSpPr>
          <p:cNvPr id="47" name="Group 47"/>
          <p:cNvGrpSpPr/>
          <p:nvPr/>
        </p:nvGrpSpPr>
        <p:grpSpPr>
          <a:xfrm>
            <a:off x="12886027" y="7033948"/>
            <a:ext cx="2135924" cy="1556792"/>
            <a:chOff x="0" y="0"/>
            <a:chExt cx="2847898" cy="2075723"/>
          </a:xfrm>
        </p:grpSpPr>
        <p:sp>
          <p:nvSpPr>
            <p:cNvPr id="48" name="TextBox 48"/>
            <p:cNvSpPr txBox="1"/>
            <p:nvPr/>
          </p:nvSpPr>
          <p:spPr>
            <a:xfrm>
              <a:off x="0" y="-19050"/>
              <a:ext cx="2847898" cy="631633"/>
            </a:xfrm>
            <a:prstGeom prst="rect">
              <a:avLst/>
            </a:prstGeom>
          </p:spPr>
          <p:txBody>
            <a:bodyPr lIns="0" tIns="0" rIns="0" bIns="0" rtlCol="0" anchor="t">
              <a:spAutoFit/>
            </a:bodyPr>
            <a:lstStyle/>
            <a:p>
              <a:pPr marL="0" lvl="0" indent="0" algn="just">
                <a:lnSpc>
                  <a:spcPts val="1897"/>
                </a:lnSpc>
              </a:pPr>
              <a:r>
                <a:rPr lang="en-US" sz="1470" b="1" spc="-4">
                  <a:solidFill>
                    <a:srgbClr val="FFFFFF"/>
                  </a:solidFill>
                  <a:latin typeface="Poppins Bold"/>
                  <a:ea typeface="Poppins Bold"/>
                  <a:cs typeface="Poppins Bold"/>
                  <a:sym typeface="Poppins Bold"/>
                </a:rPr>
                <a:t>REAL-TIME INTEGRATION</a:t>
              </a:r>
            </a:p>
          </p:txBody>
        </p:sp>
        <p:sp>
          <p:nvSpPr>
            <p:cNvPr id="49" name="TextBox 49"/>
            <p:cNvSpPr txBox="1"/>
            <p:nvPr/>
          </p:nvSpPr>
          <p:spPr>
            <a:xfrm>
              <a:off x="0" y="899953"/>
              <a:ext cx="2847898" cy="1175770"/>
            </a:xfrm>
            <a:prstGeom prst="rect">
              <a:avLst/>
            </a:prstGeom>
          </p:spPr>
          <p:txBody>
            <a:bodyPr lIns="0" tIns="0" rIns="0" bIns="0" rtlCol="0" anchor="t">
              <a:spAutoFit/>
            </a:bodyPr>
            <a:lstStyle/>
            <a:p>
              <a:pPr marL="0" lvl="0" indent="0" algn="just">
                <a:lnSpc>
                  <a:spcPts val="1794"/>
                </a:lnSpc>
              </a:pPr>
              <a:r>
                <a:rPr lang="en-US" sz="1391" spc="-4">
                  <a:solidFill>
                    <a:srgbClr val="FFFFFF"/>
                  </a:solidFill>
                  <a:latin typeface="Poppins"/>
                  <a:ea typeface="Poppins"/>
                  <a:cs typeface="Poppins"/>
                  <a:sym typeface="Poppins"/>
                </a:rPr>
                <a:t>Expand dataset and integrate real-time detection for proactive fraud prevention.</a:t>
              </a:r>
            </a:p>
          </p:txBody>
        </p:sp>
      </p:grpSp>
      <p:sp>
        <p:nvSpPr>
          <p:cNvPr id="50" name="TextBox 50"/>
          <p:cNvSpPr txBox="1"/>
          <p:nvPr/>
        </p:nvSpPr>
        <p:spPr>
          <a:xfrm>
            <a:off x="13837845" y="4202776"/>
            <a:ext cx="1578549" cy="1289415"/>
          </a:xfrm>
          <a:prstGeom prst="rect">
            <a:avLst/>
          </a:prstGeom>
        </p:spPr>
        <p:txBody>
          <a:bodyPr lIns="0" tIns="0" rIns="0" bIns="0" rtlCol="0" anchor="t">
            <a:spAutoFit/>
          </a:bodyPr>
          <a:lstStyle/>
          <a:p>
            <a:pPr marL="0" lvl="0" indent="0" algn="just">
              <a:lnSpc>
                <a:spcPts val="10631"/>
              </a:lnSpc>
            </a:pPr>
            <a:r>
              <a:rPr lang="en-US" sz="8241" spc="-24">
                <a:solidFill>
                  <a:srgbClr val="FFFFFF"/>
                </a:solidFill>
                <a:latin typeface="Bricolage Grotesque"/>
                <a:ea typeface="Bricolage Grotesque"/>
                <a:cs typeface="Bricolage Grotesque"/>
                <a:sym typeface="Bricolage Grotesque"/>
              </a:rPr>
              <a:t>04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41386" y="0"/>
            <a:ext cx="4646614" cy="10287000"/>
            <a:chOff x="0" y="0"/>
            <a:chExt cx="1223800" cy="2709333"/>
          </a:xfrm>
        </p:grpSpPr>
        <p:sp>
          <p:nvSpPr>
            <p:cNvPr id="3" name="Freeform 3"/>
            <p:cNvSpPr/>
            <p:nvPr/>
          </p:nvSpPr>
          <p:spPr>
            <a:xfrm>
              <a:off x="0" y="0"/>
              <a:ext cx="1223800" cy="2709333"/>
            </a:xfrm>
            <a:custGeom>
              <a:avLst/>
              <a:gdLst/>
              <a:ahLst/>
              <a:cxnLst/>
              <a:rect l="l" t="t" r="r" b="b"/>
              <a:pathLst>
                <a:path w="1223800" h="2709333">
                  <a:moveTo>
                    <a:pt x="0" y="0"/>
                  </a:moveTo>
                  <a:lnTo>
                    <a:pt x="1223800" y="0"/>
                  </a:lnTo>
                  <a:lnTo>
                    <a:pt x="1223800"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txBody>
            <a:bodyPr/>
            <a:lstStyle/>
            <a:p>
              <a:endParaRPr lang="en-IN" dirty="0"/>
            </a:p>
          </p:txBody>
        </p:sp>
        <p:sp>
          <p:nvSpPr>
            <p:cNvPr id="4" name="TextBox 4"/>
            <p:cNvSpPr txBox="1"/>
            <p:nvPr/>
          </p:nvSpPr>
          <p:spPr>
            <a:xfrm>
              <a:off x="0" y="-38100"/>
              <a:ext cx="1223800" cy="27474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5" name="Group 5"/>
          <p:cNvGrpSpPr/>
          <p:nvPr/>
        </p:nvGrpSpPr>
        <p:grpSpPr>
          <a:xfrm>
            <a:off x="15102839" y="1172167"/>
            <a:ext cx="1713938" cy="1561380"/>
            <a:chOff x="0" y="0"/>
            <a:chExt cx="2285252" cy="2081840"/>
          </a:xfrm>
        </p:grpSpPr>
        <p:sp>
          <p:nvSpPr>
            <p:cNvPr id="6" name="Freeform 6"/>
            <p:cNvSpPr/>
            <p:nvPr/>
          </p:nvSpPr>
          <p:spPr>
            <a:xfrm>
              <a:off x="651979" y="0"/>
              <a:ext cx="981294" cy="947395"/>
            </a:xfrm>
            <a:custGeom>
              <a:avLst/>
              <a:gdLst/>
              <a:ahLst/>
              <a:cxnLst/>
              <a:rect l="l" t="t" r="r" b="b"/>
              <a:pathLst>
                <a:path w="981294" h="947395">
                  <a:moveTo>
                    <a:pt x="0" y="0"/>
                  </a:moveTo>
                  <a:lnTo>
                    <a:pt x="981294" y="0"/>
                  </a:lnTo>
                  <a:lnTo>
                    <a:pt x="981294" y="947395"/>
                  </a:lnTo>
                  <a:lnTo>
                    <a:pt x="0" y="9473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0" y="1253510"/>
              <a:ext cx="2272228" cy="414165"/>
            </a:xfrm>
            <a:prstGeom prst="rect">
              <a:avLst/>
            </a:prstGeom>
          </p:spPr>
          <p:txBody>
            <a:bodyPr lIns="0" tIns="0" rIns="0" bIns="0" rtlCol="0" anchor="t">
              <a:spAutoFit/>
            </a:bodyPr>
            <a:lstStyle/>
            <a:p>
              <a:pPr marL="0" lvl="0" indent="0" algn="ctr">
                <a:lnSpc>
                  <a:spcPts val="2229"/>
                </a:lnSpc>
              </a:pPr>
              <a:r>
                <a:rPr lang="en-US" sz="2083" b="1">
                  <a:solidFill>
                    <a:srgbClr val="FFFFFF"/>
                  </a:solidFill>
                  <a:latin typeface="Poppins Bold"/>
                  <a:ea typeface="Poppins Bold"/>
                  <a:cs typeface="Poppins Bold"/>
                  <a:sym typeface="Poppins Bold"/>
                </a:rPr>
                <a:t>Fraud</a:t>
              </a:r>
            </a:p>
          </p:txBody>
        </p:sp>
        <p:sp>
          <p:nvSpPr>
            <p:cNvPr id="8" name="TextBox 8"/>
            <p:cNvSpPr txBox="1"/>
            <p:nvPr/>
          </p:nvSpPr>
          <p:spPr>
            <a:xfrm>
              <a:off x="13024" y="1667675"/>
              <a:ext cx="2272228" cy="414165"/>
            </a:xfrm>
            <a:prstGeom prst="rect">
              <a:avLst/>
            </a:prstGeom>
          </p:spPr>
          <p:txBody>
            <a:bodyPr lIns="0" tIns="0" rIns="0" bIns="0" rtlCol="0" anchor="t">
              <a:spAutoFit/>
            </a:bodyPr>
            <a:lstStyle/>
            <a:p>
              <a:pPr marL="0" lvl="0" indent="0" algn="ctr">
                <a:lnSpc>
                  <a:spcPts val="2229"/>
                </a:lnSpc>
              </a:pPr>
              <a:r>
                <a:rPr lang="en-US" sz="2083">
                  <a:solidFill>
                    <a:srgbClr val="FFFFFF"/>
                  </a:solidFill>
                  <a:latin typeface="Poppins"/>
                  <a:ea typeface="Poppins"/>
                  <a:cs typeface="Poppins"/>
                  <a:sym typeface="Poppins"/>
                </a:rPr>
                <a:t>Detection</a:t>
              </a:r>
            </a:p>
          </p:txBody>
        </p:sp>
      </p:grpSp>
      <p:sp>
        <p:nvSpPr>
          <p:cNvPr id="11" name="Freeform 11"/>
          <p:cNvSpPr/>
          <p:nvPr/>
        </p:nvSpPr>
        <p:spPr>
          <a:xfrm>
            <a:off x="1028700" y="7308293"/>
            <a:ext cx="441831" cy="441831"/>
          </a:xfrm>
          <a:custGeom>
            <a:avLst/>
            <a:gdLst/>
            <a:ahLst/>
            <a:cxnLst/>
            <a:rect l="l" t="t" r="r" b="b"/>
            <a:pathLst>
              <a:path w="441831" h="441831">
                <a:moveTo>
                  <a:pt x="0" y="0"/>
                </a:moveTo>
                <a:lnTo>
                  <a:pt x="441831" y="0"/>
                </a:lnTo>
                <a:lnTo>
                  <a:pt x="441831" y="441831"/>
                </a:lnTo>
                <a:lnTo>
                  <a:pt x="0" y="44183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028700" y="7988737"/>
            <a:ext cx="441831" cy="441831"/>
          </a:xfrm>
          <a:custGeom>
            <a:avLst/>
            <a:gdLst/>
            <a:ahLst/>
            <a:cxnLst/>
            <a:rect l="l" t="t" r="r" b="b"/>
            <a:pathLst>
              <a:path w="441831" h="441831">
                <a:moveTo>
                  <a:pt x="0" y="0"/>
                </a:moveTo>
                <a:lnTo>
                  <a:pt x="441831" y="0"/>
                </a:lnTo>
                <a:lnTo>
                  <a:pt x="441831" y="441831"/>
                </a:lnTo>
                <a:lnTo>
                  <a:pt x="0" y="44183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4" name="Group 14"/>
          <p:cNvGrpSpPr/>
          <p:nvPr/>
        </p:nvGrpSpPr>
        <p:grpSpPr>
          <a:xfrm>
            <a:off x="8986465" y="0"/>
            <a:ext cx="4378150" cy="10287000"/>
            <a:chOff x="0" y="0"/>
            <a:chExt cx="678290" cy="1593725"/>
          </a:xfrm>
        </p:grpSpPr>
        <p:sp>
          <p:nvSpPr>
            <p:cNvPr id="15" name="Freeform 15"/>
            <p:cNvSpPr/>
            <p:nvPr/>
          </p:nvSpPr>
          <p:spPr>
            <a:xfrm>
              <a:off x="0" y="0"/>
              <a:ext cx="678290" cy="1593725"/>
            </a:xfrm>
            <a:custGeom>
              <a:avLst/>
              <a:gdLst/>
              <a:ahLst/>
              <a:cxnLst/>
              <a:rect l="l" t="t" r="r" b="b"/>
              <a:pathLst>
                <a:path w="678290" h="1593725">
                  <a:moveTo>
                    <a:pt x="0" y="0"/>
                  </a:moveTo>
                  <a:lnTo>
                    <a:pt x="678290" y="0"/>
                  </a:lnTo>
                  <a:lnTo>
                    <a:pt x="678290" y="1593725"/>
                  </a:lnTo>
                  <a:lnTo>
                    <a:pt x="0" y="1593725"/>
                  </a:lnTo>
                  <a:close/>
                </a:path>
              </a:pathLst>
            </a:custGeom>
            <a:blipFill>
              <a:blip r:embed="rId8"/>
              <a:stretch>
                <a:fillRect l="-16964" r="-16964"/>
              </a:stretch>
            </a:blipFill>
          </p:spPr>
        </p:sp>
      </p:grpSp>
      <p:sp>
        <p:nvSpPr>
          <p:cNvPr id="16" name="AutoShape 16"/>
          <p:cNvSpPr/>
          <p:nvPr/>
        </p:nvSpPr>
        <p:spPr>
          <a:xfrm>
            <a:off x="13503000" y="0"/>
            <a:ext cx="0" cy="10287000"/>
          </a:xfrm>
          <a:prstGeom prst="line">
            <a:avLst/>
          </a:prstGeom>
          <a:ln w="19050" cap="rnd">
            <a:solidFill>
              <a:srgbClr val="3A58E4"/>
            </a:solidFill>
            <a:prstDash val="solid"/>
            <a:headEnd type="none" w="sm" len="sm"/>
            <a:tailEnd type="none" w="sm" len="sm"/>
          </a:ln>
        </p:spPr>
      </p:sp>
      <p:sp>
        <p:nvSpPr>
          <p:cNvPr id="17" name="TextBox 17"/>
          <p:cNvSpPr txBox="1"/>
          <p:nvPr/>
        </p:nvSpPr>
        <p:spPr>
          <a:xfrm>
            <a:off x="14650619" y="4306821"/>
            <a:ext cx="2628148" cy="2652724"/>
          </a:xfrm>
          <a:prstGeom prst="rect">
            <a:avLst/>
          </a:prstGeom>
        </p:spPr>
        <p:txBody>
          <a:bodyPr lIns="0" tIns="0" rIns="0" bIns="0" rtlCol="0" anchor="t">
            <a:spAutoFit/>
          </a:bodyPr>
          <a:lstStyle/>
          <a:p>
            <a:pPr marL="0" lvl="0" indent="0" algn="just">
              <a:lnSpc>
                <a:spcPts val="2325"/>
              </a:lnSpc>
            </a:pPr>
            <a:r>
              <a:rPr lang="en-US" sz="1661" spc="-4" dirty="0">
                <a:solidFill>
                  <a:srgbClr val="FFFFFF"/>
                </a:solidFill>
                <a:latin typeface="Poppins"/>
                <a:ea typeface="Poppins"/>
                <a:cs typeface="Poppins"/>
                <a:sym typeface="Poppins"/>
              </a:rPr>
              <a:t>Thank you for your attention. For questions about the Health Insurance Fraud Detection Model or collaboration opportunities, please reach out using the contact details provided.</a:t>
            </a:r>
          </a:p>
        </p:txBody>
      </p:sp>
      <p:sp>
        <p:nvSpPr>
          <p:cNvPr id="18" name="TextBox 18"/>
          <p:cNvSpPr txBox="1"/>
          <p:nvPr/>
        </p:nvSpPr>
        <p:spPr>
          <a:xfrm>
            <a:off x="1638585" y="7324490"/>
            <a:ext cx="2891575" cy="371897"/>
          </a:xfrm>
          <a:prstGeom prst="rect">
            <a:avLst/>
          </a:prstGeom>
        </p:spPr>
        <p:txBody>
          <a:bodyPr lIns="0" tIns="0" rIns="0" bIns="0" rtlCol="0" anchor="t">
            <a:spAutoFit/>
          </a:bodyPr>
          <a:lstStyle/>
          <a:p>
            <a:pPr marL="0" lvl="0" indent="0" algn="l">
              <a:lnSpc>
                <a:spcPts val="2897"/>
              </a:lnSpc>
            </a:pPr>
            <a:r>
              <a:rPr lang="en-US" sz="2541" spc="-96" dirty="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+91 8594024891</a:t>
            </a:r>
          </a:p>
        </p:txBody>
      </p:sp>
      <p:sp>
        <p:nvSpPr>
          <p:cNvPr id="19" name="TextBox 19"/>
          <p:cNvSpPr txBox="1"/>
          <p:nvPr/>
        </p:nvSpPr>
        <p:spPr>
          <a:xfrm>
            <a:off x="1638585" y="7992073"/>
            <a:ext cx="5248389" cy="371897"/>
          </a:xfrm>
          <a:prstGeom prst="rect">
            <a:avLst/>
          </a:prstGeom>
        </p:spPr>
        <p:txBody>
          <a:bodyPr lIns="0" tIns="0" rIns="0" bIns="0" rtlCol="0" anchor="t">
            <a:spAutoFit/>
          </a:bodyPr>
          <a:lstStyle/>
          <a:p>
            <a:pPr marL="0" lvl="0" indent="0" algn="l">
              <a:lnSpc>
                <a:spcPts val="2897"/>
              </a:lnSpc>
            </a:pPr>
            <a:r>
              <a:rPr lang="en-US" sz="2541" spc="-96" dirty="0">
                <a:gradFill>
                  <a:gsLst>
                    <a:gs pos="0">
                      <a:srgbClr val="293E9C">
                        <a:alpha val="100000"/>
                      </a:srgbClr>
                    </a:gs>
                    <a:gs pos="100000">
                      <a:srgbClr val="3A58E4">
                        <a:alpha val="100000"/>
                      </a:srgbClr>
                    </a:gs>
                  </a:gsLst>
                  <a:path path="circle">
                    <a:fillToRect r="100000" b="100000"/>
                  </a:path>
                  <a:tileRect l="-100000" t="-100000"/>
                </a:gradFill>
                <a:latin typeface="Poppins"/>
                <a:ea typeface="Poppins"/>
                <a:cs typeface="Poppins"/>
                <a:sym typeface="Poppins"/>
              </a:rPr>
              <a:t>vigneshvj7837@gmail.com</a:t>
            </a:r>
          </a:p>
        </p:txBody>
      </p:sp>
      <p:sp>
        <p:nvSpPr>
          <p:cNvPr id="21" name="TextBox 21"/>
          <p:cNvSpPr txBox="1"/>
          <p:nvPr/>
        </p:nvSpPr>
        <p:spPr>
          <a:xfrm>
            <a:off x="1028700" y="857250"/>
            <a:ext cx="6671890" cy="1460398"/>
          </a:xfrm>
          <a:prstGeom prst="rect">
            <a:avLst/>
          </a:prstGeom>
        </p:spPr>
        <p:txBody>
          <a:bodyPr lIns="0" tIns="0" rIns="0" bIns="0" rtlCol="0" anchor="t">
            <a:spAutoFit/>
          </a:bodyPr>
          <a:lstStyle/>
          <a:p>
            <a:pPr marL="0" lvl="0" indent="0" algn="l">
              <a:lnSpc>
                <a:spcPts val="11905"/>
              </a:lnSpc>
              <a:spcBef>
                <a:spcPct val="0"/>
              </a:spcBef>
            </a:pPr>
            <a:r>
              <a:rPr lang="en-US" sz="8504" b="1" spc="-544">
                <a:gradFill>
                  <a:gsLst>
                    <a:gs pos="0">
                      <a:srgbClr val="293E9C">
                        <a:alpha val="100000"/>
                      </a:srgbClr>
                    </a:gs>
                    <a:gs pos="100000">
                      <a:srgbClr val="3A58E4">
                        <a:alpha val="100000"/>
                      </a:srgbClr>
                    </a:gs>
                  </a:gsLst>
                  <a:path path="circle">
                    <a:fillToRect r="100000" b="100000"/>
                  </a:path>
                  <a:tileRect l="-100000" t="-100000"/>
                </a:gradFill>
                <a:latin typeface="Canva Sans Bold"/>
                <a:ea typeface="Canva Sans Bold"/>
                <a:cs typeface="Canva Sans Bold"/>
                <a:sym typeface="Canva Sans Bold"/>
              </a:rPr>
              <a:t>Thank You!</a:t>
            </a:r>
          </a:p>
        </p:txBody>
      </p:sp>
      <p:sp>
        <p:nvSpPr>
          <p:cNvPr id="22" name="TextBox 22"/>
          <p:cNvSpPr txBox="1"/>
          <p:nvPr/>
        </p:nvSpPr>
        <p:spPr>
          <a:xfrm>
            <a:off x="1028700" y="2316167"/>
            <a:ext cx="6671890" cy="2180870"/>
          </a:xfrm>
          <a:prstGeom prst="rect">
            <a:avLst/>
          </a:prstGeom>
        </p:spPr>
        <p:txBody>
          <a:bodyPr lIns="0" tIns="0" rIns="0" bIns="0" rtlCol="0" anchor="t">
            <a:spAutoFit/>
          </a:bodyPr>
          <a:lstStyle/>
          <a:p>
            <a:pPr marL="0" lvl="0" indent="0" algn="just">
              <a:lnSpc>
                <a:spcPts val="8339"/>
              </a:lnSpc>
            </a:pPr>
            <a:r>
              <a:rPr lang="en-US" sz="8510" spc="-544"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Questions?</a:t>
            </a:r>
          </a:p>
          <a:p>
            <a:pPr marL="0" lvl="0" indent="0" algn="just">
              <a:lnSpc>
                <a:spcPts val="8339"/>
              </a:lnSpc>
            </a:pPr>
            <a:r>
              <a:rPr lang="en-US" sz="8510" spc="-544" dirty="0">
                <a:gradFill>
                  <a:gsLst>
                    <a:gs pos="0">
                      <a:srgbClr val="293E9C">
                        <a:alpha val="100000"/>
                      </a:srgbClr>
                    </a:gs>
                    <a:gs pos="100000">
                      <a:srgbClr val="3A58E4">
                        <a:alpha val="100000"/>
                      </a:srgbClr>
                    </a:gs>
                  </a:gsLst>
                  <a:path path="circle">
                    <a:fillToRect r="100000" b="100000"/>
                  </a:path>
                  <a:tileRect l="-100000" t="-100000"/>
                </a:gradFill>
                <a:latin typeface="Bricolage Grotesque"/>
                <a:ea typeface="Bricolage Grotesque"/>
                <a:cs typeface="Bricolage Grotesque"/>
                <a:sym typeface="Bricolage Grotesque"/>
              </a:rPr>
              <a:t>Let's Connect!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774</Words>
  <Application>Microsoft Office PowerPoint</Application>
  <PresentationFormat>Custom</PresentationFormat>
  <Paragraphs>124</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Canva Sans Bold</vt:lpstr>
      <vt:lpstr>Calibri</vt:lpstr>
      <vt:lpstr>Poppins Bold</vt:lpstr>
      <vt:lpstr>Arial</vt:lpstr>
      <vt:lpstr>Bricolage Grotesque</vt:lpstr>
      <vt:lpstr>Bricolage Grotesque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Insurance Fraud Detection Model Overview</dc:title>
  <cp:lastModifiedBy>Vignesh Jaganathan</cp:lastModifiedBy>
  <cp:revision>1</cp:revision>
  <dcterms:created xsi:type="dcterms:W3CDTF">2006-08-16T00:00:00Z</dcterms:created>
  <dcterms:modified xsi:type="dcterms:W3CDTF">2026-05-03T18:36:22Z</dcterms:modified>
  <dc:identifier>DAHIipaI9iA</dc:identifier>
</cp:coreProperties>
</file>